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stellen onze testbank voor die een Philips Hue-lamp en een Hue-bewegingssensor automatisch test. Runar en Milan leggen elk hun eigen deel uit. Vul de datum van de evaluatie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één testbank met twee tests. Lamp-test: kleur en helderheid meten. Bewegingstest: de servo beweegt een warm plaatje 10 keer voor de Hue-sensor en we tellen hoe vaak de sensor reageert. Rol binnen emBright: de ESP32 gedraagt zich als een BrightLinQ-device en spreekt het MQTT-protocol uit onze communicatietest (device.list, get, set, push). Controleer met de begeleiders of de term emBright of Brightsense in jullie opdracht wordt gebruikt.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Testflow: per test staat de actie, de verwachte reactie en wanneer de test geslaagd is. De drempelwaarden tussen haakjes zijn voorlopig en worden bepaald na de eerste metingen. Communicatie: dit is de test uit onze communicatietutorial met een nepsensor op de ESP32 en een laptop-server; het kanaal-5-geval controleert de foutafhandeling.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Blokdiagram: in het midden de ESP32. Links de netwerkkant: de BrightLinQ-server via MQTT en de Hue Bridge via HTTP; de Bridge praat Zigbee met de lamp en de bewegingssensor. Rechts de hardware aan de ESP32: twee sensoren via I²C (geen adresconflict: 0x39 en 0x23), het display via SPI, de servo via PWM op 5 V en de knop met status-LED. Fysiek: het licht van de lamp valt op de sensoren, en de servo beweegt een warm plaatje voor de Hue-sensor.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en meetopstelling, schema's van Milan. Links de software: de ESP32 draait het Brightsense-framework. configuration.py en main.py zetten de hardware op, de bestanden in framework/ bevatten de sensoren (AS7341, BH1750) en modules (display, knop en LED, motor), en framework/device.py regelt de device-identiteit en de MQTT-verbinding met de BrightLinq-server. Het schema is vereenvoudigd: de Hue-lamp en de bewegingssensor praten in werkelijkheid via de Hue Bridge, en met "motor" bedoelen we de servo. Rechts de meetopstelling: de lamp staat op een vaste afstand en positie van de twee sensoren, in een donkere behuizing met weinig omgevingslicht. De afstand tot de lichtbron beïnvloedt wat een kleursensor meet, daarom ligt die vast. Milan baseerde dit op een artikel van Atlas Scientific over kleursensoren met Arduino.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Technische keuzes: per keuze staat waarom en waarop ze steunt. De servo vervangt de DC-motor uit onze eerste lijst omdat een servo een vaste positie heeft. De bewegingssensor is een PIR en reageert op warmte, daarom het warme plaatje (of een warmtematje). Dit moeten we nog in de praktijk testen. De totale kost staat in de kostenanalyse (Excel): € 79,72 incl. btw en verzending.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Voortgang: dit is het werk dat al gedaan is en wat we daaruit geleerd hebben, bijvoorbeeld dat onze eerste onderdelenlijst fouten had (DC-motor, ontbrekende Bridge en sensor) en dat de eerste lichtsensor niet leverbaar was. Runar werkte aan de kostenanalyse en de communicatietest, Milan aan het framework, het software-schema en de meetopstelling. Volgende stappen: elke taak heeft een verantwoordelijke en een deadline; de verdeling is een voorstel en moet nog bevestigd worden. Er is nog geen afgewerkt prototype, dat is voor deze evaluatie geen voorwaarde.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bestellen, levering, integratie en testmomenten in volgorde. De data zijn voorlopig en hangen af van de levering; bol.com levert uiterlijk op 5 november. Taakverdeling: Runar en Milan hebben elk een deel waarvoor ze verantwoordelijk zijn en dat ze kunnen uitleggen. De verdeling is een voorstel; pas ze aan als jullie het anders afspraken.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2A34"/>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1B2A3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B2A34"/>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1B2A34"/>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22E"/>
        </a:solidFill>
      </p:bgPr>
    </p:bg>
    <p:spTree>
      <p:nvGrpSpPr>
        <p:cNvPr id="1" name=""/>
        <p:cNvGrpSpPr/>
        <p:nvPr/>
      </p:nvGrpSpPr>
      <p:grpSpPr>
        <a:xfrm>
          <a:off x="0" y="0"/>
          <a:ext cx="0" cy="0"/>
          <a:chOff x="0" y="0"/>
          <a:chExt cx="0" cy="0"/>
        </a:xfrm>
      </p:grpSpPr>
      <p:sp>
        <p:nvSpPr>
          <p:cNvPr id="2" name="Text 0"/>
          <p:cNvSpPr/>
          <p:nvPr/>
        </p:nvSpPr>
        <p:spPr>
          <a:xfrm>
            <a:off x="812800" y="20931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9A23B"/>
                </a:solidFill>
                <a:latin typeface="IBM Plex Sans" pitchFamily="34" charset="0"/>
                <a:ea typeface="IBM Plex Sans" pitchFamily="34" charset="-122"/>
                <a:cs typeface="IBM Plex Sans" pitchFamily="34" charset="-120"/>
              </a:rPr>
              <a:t>PROJECT EMBEDDED · EVALUATIE 1</a:t>
            </a:r>
            <a:endParaRPr lang="en-US" sz="1400" dirty="0"/>
          </a:p>
        </p:txBody>
      </p:sp>
      <p:sp>
        <p:nvSpPr>
          <p:cNvPr id="3" name="Text 1"/>
          <p:cNvSpPr/>
          <p:nvPr>
            <p:ph type="title"/>
          </p:nvPr>
        </p:nvSpPr>
        <p:spPr>
          <a:xfrm>
            <a:off x="812800" y="2595959"/>
            <a:ext cx="10883392" cy="667941"/>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5F3EC"/>
                </a:solidFill>
                <a:latin typeface="IBM Plex Sans" pitchFamily="34" charset="0"/>
                <a:ea typeface="IBM Plex Sans" pitchFamily="34" charset="-122"/>
                <a:cs typeface="IBM Plex Sans" pitchFamily="34" charset="-120"/>
              </a:rPr>
              <a:t>Light-Colour-Led-Testbench</a:t>
            </a:r>
            <a:endParaRPr lang="en-US" sz="4600" dirty="0"/>
          </a:p>
        </p:txBody>
      </p:sp>
      <p:sp>
        <p:nvSpPr>
          <p:cNvPr id="4" name="Text 2"/>
          <p:cNvSpPr/>
          <p:nvPr/>
        </p:nvSpPr>
        <p:spPr>
          <a:xfrm>
            <a:off x="812800" y="3492500"/>
            <a:ext cx="10883392"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5D0D6"/>
                </a:solidFill>
                <a:latin typeface="IBM Plex Sans" pitchFamily="34" charset="0"/>
                <a:ea typeface="IBM Plex Sans" pitchFamily="34" charset="-122"/>
                <a:cs typeface="IBM Plex Sans" pitchFamily="34" charset="-120"/>
              </a:rPr>
              <a:t>ESP32-testbank die een Hue-lamp op kleur en helderheid meet en een Hue-bewegingssensor test.</a:t>
            </a:r>
            <a:endParaRPr lang="en-US" sz="2200" dirty="0"/>
          </a:p>
        </p:txBody>
      </p:sp>
      <p:sp>
        <p:nvSpPr>
          <p:cNvPr id="5" name="Shape 3"/>
          <p:cNvSpPr/>
          <p:nvPr/>
        </p:nvSpPr>
        <p:spPr>
          <a:xfrm>
            <a:off x="812800" y="4472781"/>
            <a:ext cx="10566400" cy="88900"/>
          </a:xfrm>
          <a:prstGeom prst="roundRect">
            <a:avLst>
              <a:gd name="adj" fmla="val 50000"/>
            </a:avLst>
          </a:prstGeom>
          <a:gradFill rotWithShape="1">
            <a:gsLst>
              <a:gs pos="0">
                <a:srgbClr val="D64545"/>
              </a:gs>
              <a:gs pos="16667">
                <a:srgbClr val="E9A23B"/>
              </a:gs>
              <a:gs pos="33333">
                <a:srgbClr val="E8D44D"/>
              </a:gs>
              <a:gs pos="50000">
                <a:srgbClr val="4CAF7A"/>
              </a:gs>
              <a:gs pos="66667">
                <a:srgbClr val="2E9C8F"/>
              </a:gs>
              <a:gs pos="83333">
                <a:srgbClr val="3F7FD4"/>
              </a:gs>
              <a:gs pos="100000">
                <a:srgbClr val="8A5CC8"/>
              </a:gs>
            </a:gsLst>
            <a:lin ang="0" scaled="0"/>
          </a:gradFill>
          <a:ln/>
        </p:spPr>
      </p:sp>
      <p:sp>
        <p:nvSpPr>
          <p:cNvPr id="6" name="Text 4"/>
          <p:cNvSpPr/>
          <p:nvPr/>
        </p:nvSpPr>
        <p:spPr>
          <a:xfrm>
            <a:off x="812800" y="6202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7BF"/>
                </a:solidFill>
                <a:latin typeface="IBM Plex Sans" pitchFamily="34" charset="0"/>
                <a:ea typeface="IBM Plex Sans" pitchFamily="34" charset="-122"/>
                <a:cs typeface="IBM Plex Sans" pitchFamily="34" charset="-120"/>
              </a:rPr>
              <a:t>Runar en Milan · [datum evaluatie]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4"/>
                </a:solidFill>
                <a:latin typeface="IBM Plex Sans" pitchFamily="34" charset="0"/>
                <a:ea typeface="IBM Plex Sans" pitchFamily="34" charset="-122"/>
                <a:cs typeface="IBM Plex Sans" pitchFamily="34" charset="-120"/>
              </a:rPr>
              <a:t>Eén testbank, twee tests</a:t>
            </a:r>
            <a:endParaRPr lang="en-US" sz="3600" dirty="0"/>
          </a:p>
        </p:txBody>
      </p:sp>
      <p:sp>
        <p:nvSpPr>
          <p:cNvPr id="3" name="Shape 1"/>
          <p:cNvSpPr/>
          <p:nvPr/>
        </p:nvSpPr>
        <p:spPr>
          <a:xfrm>
            <a:off x="815975" y="1623616"/>
            <a:ext cx="3384550" cy="2569170"/>
          </a:xfrm>
          <a:prstGeom prst="roundRect">
            <a:avLst>
              <a:gd name="adj" fmla="val 3831"/>
            </a:avLst>
          </a:prstGeom>
          <a:solidFill>
            <a:srgbClr val="FBFAF6"/>
          </a:solidFill>
          <a:ln w="6350">
            <a:solidFill>
              <a:srgbClr val="D5D1C2"/>
            </a:solidFill>
            <a:prstDash val="solid"/>
          </a:ln>
        </p:spPr>
      </p:sp>
      <p:sp>
        <p:nvSpPr>
          <p:cNvPr id="4" name="Text 2"/>
          <p:cNvSpPr/>
          <p:nvPr/>
        </p:nvSpPr>
        <p:spPr>
          <a:xfrm>
            <a:off x="1073150" y="188079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70"/>
                </a:solidFill>
                <a:latin typeface="IBM Plex Sans" pitchFamily="34" charset="0"/>
                <a:ea typeface="IBM Plex Sans" pitchFamily="34" charset="-122"/>
                <a:cs typeface="IBM Plex Sans" pitchFamily="34" charset="-120"/>
              </a:rPr>
              <a:t>TEST 1</a:t>
            </a:r>
            <a:endParaRPr lang="en-US" sz="1200" dirty="0"/>
          </a:p>
        </p:txBody>
      </p:sp>
      <p:sp>
        <p:nvSpPr>
          <p:cNvPr id="5" name="Text 3"/>
          <p:cNvSpPr/>
          <p:nvPr/>
        </p:nvSpPr>
        <p:spPr>
          <a:xfrm>
            <a:off x="1073150" y="219571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4"/>
                </a:solidFill>
                <a:latin typeface="IBM Plex Sans" pitchFamily="34" charset="0"/>
                <a:ea typeface="IBM Plex Sans" pitchFamily="34" charset="-122"/>
                <a:cs typeface="IBM Plex Sans" pitchFamily="34" charset="-120"/>
              </a:rPr>
              <a:t>Lamp-test</a:t>
            </a:r>
            <a:endParaRPr lang="en-US" sz="2000" dirty="0"/>
          </a:p>
        </p:txBody>
      </p:sp>
      <p:sp>
        <p:nvSpPr>
          <p:cNvPr id="6" name="Text 4"/>
          <p:cNvSpPr/>
          <p:nvPr/>
        </p:nvSpPr>
        <p:spPr>
          <a:xfrm>
            <a:off x="1073150" y="2602111"/>
            <a:ext cx="2956306"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4444E"/>
                </a:solidFill>
                <a:latin typeface="IBM Plex Sans" pitchFamily="34" charset="0"/>
                <a:ea typeface="IBM Plex Sans" pitchFamily="34" charset="-122"/>
                <a:cs typeface="IBM Plex Sans" pitchFamily="34" charset="-120"/>
              </a:rPr>
              <a:t>De Hue-lamp loopt automatisch door kleuren en wit-tinten. De AS7341 meet de kleur, de BH1750 de lichtsterkte. Het display toont het resultaat.</a:t>
            </a:r>
            <a:endParaRPr lang="en-US" sz="1500" dirty="0"/>
          </a:p>
        </p:txBody>
      </p:sp>
      <p:sp>
        <p:nvSpPr>
          <p:cNvPr id="7" name="Shape 5"/>
          <p:cNvSpPr/>
          <p:nvPr/>
        </p:nvSpPr>
        <p:spPr>
          <a:xfrm>
            <a:off x="4410075" y="1623616"/>
            <a:ext cx="3384550" cy="2569170"/>
          </a:xfrm>
          <a:prstGeom prst="roundRect">
            <a:avLst>
              <a:gd name="adj" fmla="val 3831"/>
            </a:avLst>
          </a:prstGeom>
          <a:solidFill>
            <a:srgbClr val="FBFAF6"/>
          </a:solidFill>
          <a:ln w="6350">
            <a:solidFill>
              <a:srgbClr val="D5D1C2"/>
            </a:solidFill>
            <a:prstDash val="solid"/>
          </a:ln>
        </p:spPr>
      </p:sp>
      <p:sp>
        <p:nvSpPr>
          <p:cNvPr id="8" name="Text 6"/>
          <p:cNvSpPr/>
          <p:nvPr/>
        </p:nvSpPr>
        <p:spPr>
          <a:xfrm>
            <a:off x="4667250" y="188079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7A70"/>
                </a:solidFill>
                <a:latin typeface="IBM Plex Sans" pitchFamily="34" charset="0"/>
                <a:ea typeface="IBM Plex Sans" pitchFamily="34" charset="-122"/>
                <a:cs typeface="IBM Plex Sans" pitchFamily="34" charset="-120"/>
              </a:rPr>
              <a:t>TEST 2</a:t>
            </a:r>
            <a:endParaRPr lang="en-US" sz="1200" dirty="0"/>
          </a:p>
        </p:txBody>
      </p:sp>
      <p:sp>
        <p:nvSpPr>
          <p:cNvPr id="9" name="Text 7"/>
          <p:cNvSpPr/>
          <p:nvPr/>
        </p:nvSpPr>
        <p:spPr>
          <a:xfrm>
            <a:off x="4667250" y="219571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4"/>
                </a:solidFill>
                <a:latin typeface="IBM Plex Sans" pitchFamily="34" charset="0"/>
                <a:ea typeface="IBM Plex Sans" pitchFamily="34" charset="-122"/>
                <a:cs typeface="IBM Plex Sans" pitchFamily="34" charset="-120"/>
              </a:rPr>
              <a:t>Bewegingstest</a:t>
            </a:r>
            <a:endParaRPr lang="en-US" sz="2000" dirty="0"/>
          </a:p>
        </p:txBody>
      </p:sp>
      <p:sp>
        <p:nvSpPr>
          <p:cNvPr id="10" name="Text 8"/>
          <p:cNvSpPr/>
          <p:nvPr/>
        </p:nvSpPr>
        <p:spPr>
          <a:xfrm>
            <a:off x="4667250" y="2602111"/>
            <a:ext cx="2956306"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4444E"/>
                </a:solidFill>
                <a:latin typeface="IBM Plex Sans" pitchFamily="34" charset="0"/>
                <a:ea typeface="IBM Plex Sans" pitchFamily="34" charset="-122"/>
                <a:cs typeface="IBM Plex Sans" pitchFamily="34" charset="-120"/>
              </a:rPr>
              <a:t>Een servo beweegt 10 keer een warm plaatje voor de Hue-bewegingssensor. De Hue Bridge meldt of de sensor reageerde. Score: X/10.</a:t>
            </a:r>
            <a:endParaRPr lang="en-US" sz="1500" dirty="0"/>
          </a:p>
        </p:txBody>
      </p:sp>
      <p:sp>
        <p:nvSpPr>
          <p:cNvPr id="11" name="Shape 9"/>
          <p:cNvSpPr/>
          <p:nvPr/>
        </p:nvSpPr>
        <p:spPr>
          <a:xfrm>
            <a:off x="8001000" y="1620441"/>
            <a:ext cx="3378200" cy="2575520"/>
          </a:xfrm>
          <a:prstGeom prst="roundRect">
            <a:avLst>
              <a:gd name="adj" fmla="val 3945"/>
            </a:avLst>
          </a:prstGeom>
          <a:solidFill>
            <a:srgbClr val="12222E"/>
          </a:solidFill>
          <a:ln/>
        </p:spPr>
      </p:sp>
      <p:sp>
        <p:nvSpPr>
          <p:cNvPr id="12" name="Text 10"/>
          <p:cNvSpPr/>
          <p:nvPr/>
        </p:nvSpPr>
        <p:spPr>
          <a:xfrm>
            <a:off x="8255000" y="187444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9A23B"/>
                </a:solidFill>
                <a:latin typeface="IBM Plex Sans" pitchFamily="34" charset="0"/>
                <a:ea typeface="IBM Plex Sans" pitchFamily="34" charset="-122"/>
                <a:cs typeface="IBM Plex Sans" pitchFamily="34" charset="-120"/>
              </a:rPr>
              <a:t>ONZE ROL</a:t>
            </a:r>
            <a:endParaRPr lang="en-US" sz="1200" dirty="0"/>
          </a:p>
        </p:txBody>
      </p:sp>
      <p:sp>
        <p:nvSpPr>
          <p:cNvPr id="13" name="Text 11"/>
          <p:cNvSpPr/>
          <p:nvPr/>
        </p:nvSpPr>
        <p:spPr>
          <a:xfrm>
            <a:off x="8255000" y="218936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3EC"/>
                </a:solidFill>
                <a:latin typeface="IBM Plex Sans" pitchFamily="34" charset="0"/>
                <a:ea typeface="IBM Plex Sans" pitchFamily="34" charset="-122"/>
                <a:cs typeface="IBM Plex Sans" pitchFamily="34" charset="-120"/>
              </a:rPr>
              <a:t>Binnen emBright</a:t>
            </a:r>
            <a:endParaRPr lang="en-US" sz="2000" dirty="0"/>
          </a:p>
        </p:txBody>
      </p:sp>
      <p:sp>
        <p:nvSpPr>
          <p:cNvPr id="14" name="Text 12"/>
          <p:cNvSpPr/>
          <p:nvPr/>
        </p:nvSpPr>
        <p:spPr>
          <a:xfrm>
            <a:off x="8255000" y="2595761"/>
            <a:ext cx="2956306"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5D0D6"/>
                </a:solidFill>
                <a:latin typeface="IBM Plex Sans" pitchFamily="34" charset="0"/>
                <a:ea typeface="IBM Plex Sans" pitchFamily="34" charset="-122"/>
                <a:cs typeface="IBM Plex Sans" pitchFamily="34" charset="-120"/>
              </a:rPr>
              <a:t>De ESP32 draait het Brightsense-clientframework en meldt zich via MQTT aan bij de BrightLinq-server (REST API EmLinQ v1), die list, get, set en whois aanstuurt.</a:t>
            </a:r>
            <a:endParaRPr lang="en-US" sz="1500" dirty="0"/>
          </a:p>
        </p:txBody>
      </p:sp>
      <p:sp>
        <p:nvSpPr>
          <p:cNvPr id="15" name="Text 13"/>
          <p:cNvSpPr/>
          <p:nvPr/>
        </p:nvSpPr>
        <p:spPr>
          <a:xfrm>
            <a:off x="812800" y="450076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B2A34"/>
                </a:solidFill>
                <a:latin typeface="IBM Plex Sans" pitchFamily="34" charset="0"/>
                <a:ea typeface="IBM Plex Sans" pitchFamily="34" charset="-122"/>
                <a:cs typeface="IBM Plex Sans" pitchFamily="34" charset="-120"/>
              </a:rPr>
              <a:t>Doel: nagaan of de lamp doet wat de Bridge vraagt, en of de sensor bij elke beweging betrouwbaar reageert.</a:t>
            </a:r>
            <a:endParaRPr lang="en-US" sz="18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Light-Colour-Led-Testbench · Evaluatie 1</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4"/>
                </a:solidFill>
                <a:latin typeface="IBM Plex Sans" pitchFamily="34" charset="0"/>
                <a:ea typeface="IBM Plex Sans" pitchFamily="34" charset="-122"/>
                <a:cs typeface="IBM Plex Sans" pitchFamily="34" charset="-120"/>
              </a:rPr>
              <a:t>Testflow: actie, reactie, slaagcriterium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680"/>
          <a:ext cx="10553700" cy="2516188"/>
        </p:xfrm>
        <a:graphic>
          <a:graphicData uri="http://schemas.openxmlformats.org/drawingml/2006/table">
            <a:tbl>
              <a:tblPr/>
              <a:tblGrid>
                <a:gridCol w="1477518"/>
                <a:gridCol w="3166110"/>
                <a:gridCol w="2955036"/>
                <a:gridCol w="2955036"/>
              </a:tblGrid>
              <a:tr h="332581">
                <a:tc>
                  <a:txBody>
                    <a:bodyPr/>
                    <a:lstStyle/>
                    <a:p>
                      <a:pPr indent="0" marL="0">
                        <a:lnSpc>
                          <a:spcPts val="1680"/>
                        </a:lnSpc>
                        <a:buNone/>
                      </a:pPr>
                      <a:r>
                        <a:rPr lang="en-US" sz="1200" b="1" dirty="0">
                          <a:solidFill>
                            <a:srgbClr val="1B2A34"/>
                          </a:solidFill>
                          <a:latin typeface="IBM Plex Sans" pitchFamily="34" charset="0"/>
                          <a:ea typeface="IBM Plex Sans" pitchFamily="34" charset="-122"/>
                          <a:cs typeface="IBM Plex Sans" pitchFamily="34" charset="-120"/>
                        </a:rPr>
                        <a:t>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B2A34"/>
                          </a:solidFill>
                          <a:latin typeface="IBM Plex Sans" pitchFamily="34" charset="0"/>
                          <a:ea typeface="IBM Plex Sans" pitchFamily="34" charset="-122"/>
                          <a:cs typeface="IBM Plex Sans" pitchFamily="34" charset="-120"/>
                        </a:rPr>
                        <a:t>Input of actie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B2A34"/>
                          </a:solidFill>
                          <a:latin typeface="IBM Plex Sans" pitchFamily="34" charset="0"/>
                          <a:ea typeface="IBM Plex Sans" pitchFamily="34" charset="-122"/>
                          <a:cs typeface="IBM Plex Sans" pitchFamily="34" charset="-120"/>
                        </a:rPr>
                        <a:t>Verwachte reactie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B2A34"/>
                          </a:solidFill>
                          <a:latin typeface="IBM Plex Sans" pitchFamily="34" charset="0"/>
                          <a:ea typeface="IBM Plex Sans" pitchFamily="34" charset="-122"/>
                          <a:cs typeface="IBM Plex Sans" pitchFamily="34" charset="-120"/>
                        </a:rPr>
                        <a:t>Geslaagd 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545902">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Kleur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Lamp via de Bridge op rood, groen, blauw, cyaan, magenta, geel en drie wit-tinten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AS7341 meet de bijbehorende spectrale banden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Gemeten kleurverhouding binnen [x] % van de verwachting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902">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Helderheid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Lamp op 25, 50, 75 en 100 %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BH1750-waarde stijgt bij elke stap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Lux stijgt per stap, afwijking van lineair onder [x]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902">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Beweging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Servo beweegt 10 keer een warm plaatje voor de Hue-sensor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Bridge meldt na elke beweging dat de sensor beweging zag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Score X/10 met X ≥ [9]; reactietijd onder [x]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902">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Communicatie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BrightLinq-server stuurt via de API get en set naar het device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ESP32 antwoordt met status 200; een onbekend kanaal geeft 404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Alle antwoorden correct; push elke [5] 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4" name="Text 1"/>
          <p:cNvSpPr/>
          <p:nvPr/>
        </p:nvSpPr>
        <p:spPr>
          <a:xfrm>
            <a:off x="812800" y="4195068"/>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4444E"/>
                </a:solidFill>
                <a:latin typeface="IBM Plex Sans" pitchFamily="34" charset="0"/>
                <a:ea typeface="IBM Plex Sans" pitchFamily="34" charset="-122"/>
                <a:cs typeface="IBM Plex Sans" pitchFamily="34" charset="-120"/>
              </a:rPr>
              <a:t>Bij [x] vullen we de drempels in na de eerste metingen.</a:t>
            </a:r>
            <a:endParaRPr lang="en-US" sz="1400" dirty="0"/>
          </a:p>
        </p:txBody>
      </p:sp>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Light-Colour-Led-Testbench · Evaluatie 1</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4"/>
                </a:solidFill>
                <a:latin typeface="IBM Plex Sans" pitchFamily="34" charset="0"/>
                <a:ea typeface="IBM Plex Sans" pitchFamily="34" charset="-122"/>
                <a:cs typeface="IBM Plex Sans" pitchFamily="34" charset="-120"/>
              </a:rPr>
              <a:t>Blokdiagram</a:t>
            </a:r>
            <a:endParaRPr lang="en-US" sz="3200" dirty="0"/>
          </a:p>
        </p:txBody>
      </p:sp>
      <p:sp>
        <p:nvSpPr>
          <p:cNvPr id="3" name="Shape 1"/>
          <p:cNvSpPr/>
          <p:nvPr/>
        </p:nvSpPr>
        <p:spPr>
          <a:xfrm>
            <a:off x="819150" y="1657350"/>
            <a:ext cx="2527300" cy="812800"/>
          </a:xfrm>
          <a:prstGeom prst="roundRect">
            <a:avLst>
              <a:gd name="adj" fmla="val 11719"/>
            </a:avLst>
          </a:prstGeom>
          <a:solidFill>
            <a:srgbClr val="FBFAF6"/>
          </a:solidFill>
          <a:ln w="12700">
            <a:solidFill>
              <a:srgbClr val="8A9A9F"/>
            </a:solidFill>
            <a:prstDash val="solid"/>
          </a:ln>
        </p:spPr>
      </p:sp>
      <p:sp>
        <p:nvSpPr>
          <p:cNvPr id="4" name="Text 2"/>
          <p:cNvSpPr/>
          <p:nvPr/>
        </p:nvSpPr>
        <p:spPr>
          <a:xfrm>
            <a:off x="952500" y="1830090"/>
            <a:ext cx="23284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4"/>
                </a:solidFill>
                <a:latin typeface="IBM Plex Sans" pitchFamily="34" charset="0"/>
                <a:ea typeface="IBM Plex Sans" pitchFamily="34" charset="-122"/>
                <a:cs typeface="IBM Plex Sans" pitchFamily="34" charset="-120"/>
              </a:rPr>
              <a:t>BrightLinq-server</a:t>
            </a:r>
            <a:endParaRPr lang="en-US" sz="1500" dirty="0"/>
          </a:p>
        </p:txBody>
      </p:sp>
      <p:sp>
        <p:nvSpPr>
          <p:cNvPr id="5" name="Text 3"/>
          <p:cNvSpPr/>
          <p:nvPr/>
        </p:nvSpPr>
        <p:spPr>
          <a:xfrm>
            <a:off x="952500" y="2084090"/>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REST API en MQTT</a:t>
            </a:r>
            <a:endParaRPr lang="en-US" sz="1200" dirty="0"/>
          </a:p>
        </p:txBody>
      </p:sp>
      <p:sp>
        <p:nvSpPr>
          <p:cNvPr id="6" name="Shape 4"/>
          <p:cNvSpPr/>
          <p:nvPr/>
        </p:nvSpPr>
        <p:spPr>
          <a:xfrm>
            <a:off x="819150" y="3308350"/>
            <a:ext cx="2527300" cy="812800"/>
          </a:xfrm>
          <a:prstGeom prst="roundRect">
            <a:avLst>
              <a:gd name="adj" fmla="val 11719"/>
            </a:avLst>
          </a:prstGeom>
          <a:solidFill>
            <a:srgbClr val="FBEFD6"/>
          </a:solidFill>
          <a:ln w="12700">
            <a:solidFill>
              <a:srgbClr val="E9A23B"/>
            </a:solidFill>
            <a:prstDash val="solid"/>
          </a:ln>
        </p:spPr>
      </p:sp>
      <p:sp>
        <p:nvSpPr>
          <p:cNvPr id="7" name="Text 5"/>
          <p:cNvSpPr/>
          <p:nvPr/>
        </p:nvSpPr>
        <p:spPr>
          <a:xfrm>
            <a:off x="952500" y="3481090"/>
            <a:ext cx="23284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4"/>
                </a:solidFill>
                <a:latin typeface="IBM Plex Sans" pitchFamily="34" charset="0"/>
                <a:ea typeface="IBM Plex Sans" pitchFamily="34" charset="-122"/>
                <a:cs typeface="IBM Plex Sans" pitchFamily="34" charset="-120"/>
              </a:rPr>
              <a:t>Hue Bridge</a:t>
            </a:r>
            <a:endParaRPr lang="en-US" sz="1500" dirty="0"/>
          </a:p>
        </p:txBody>
      </p:sp>
      <p:sp>
        <p:nvSpPr>
          <p:cNvPr id="8" name="Text 6"/>
          <p:cNvSpPr/>
          <p:nvPr/>
        </p:nvSpPr>
        <p:spPr>
          <a:xfrm>
            <a:off x="952500" y="3735090"/>
            <a:ext cx="23284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lokale API, Zigbee</a:t>
            </a:r>
            <a:endParaRPr lang="en-US" sz="1200" dirty="0"/>
          </a:p>
        </p:txBody>
      </p:sp>
      <p:sp>
        <p:nvSpPr>
          <p:cNvPr id="9" name="Shape 7"/>
          <p:cNvSpPr/>
          <p:nvPr/>
        </p:nvSpPr>
        <p:spPr>
          <a:xfrm>
            <a:off x="819150" y="5086350"/>
            <a:ext cx="1193800" cy="749300"/>
          </a:xfrm>
          <a:prstGeom prst="roundRect">
            <a:avLst>
              <a:gd name="adj" fmla="val 12712"/>
            </a:avLst>
          </a:prstGeom>
          <a:solidFill>
            <a:srgbClr val="FBEFD6"/>
          </a:solidFill>
          <a:ln w="12700">
            <a:solidFill>
              <a:srgbClr val="E9A23B"/>
            </a:solidFill>
            <a:prstDash val="solid"/>
          </a:ln>
        </p:spPr>
      </p:sp>
      <p:sp>
        <p:nvSpPr>
          <p:cNvPr id="10" name="Text 8"/>
          <p:cNvSpPr/>
          <p:nvPr/>
        </p:nvSpPr>
        <p:spPr>
          <a:xfrm>
            <a:off x="927100" y="5227340"/>
            <a:ext cx="10287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4"/>
                </a:solidFill>
                <a:latin typeface="IBM Plex Sans" pitchFamily="34" charset="0"/>
                <a:ea typeface="IBM Plex Sans" pitchFamily="34" charset="-122"/>
                <a:cs typeface="IBM Plex Sans" pitchFamily="34" charset="-120"/>
              </a:rPr>
              <a:t>Hue-lamp</a:t>
            </a:r>
            <a:endParaRPr lang="en-US" sz="1500" dirty="0"/>
          </a:p>
        </p:txBody>
      </p:sp>
      <p:sp>
        <p:nvSpPr>
          <p:cNvPr id="11" name="Text 9"/>
          <p:cNvSpPr/>
          <p:nvPr/>
        </p:nvSpPr>
        <p:spPr>
          <a:xfrm>
            <a:off x="927100" y="5481340"/>
            <a:ext cx="1028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kleurlamp</a:t>
            </a:r>
            <a:endParaRPr lang="en-US" sz="1200" dirty="0"/>
          </a:p>
        </p:txBody>
      </p:sp>
      <p:sp>
        <p:nvSpPr>
          <p:cNvPr id="12" name="Shape 10"/>
          <p:cNvSpPr/>
          <p:nvPr/>
        </p:nvSpPr>
        <p:spPr>
          <a:xfrm>
            <a:off x="2152650" y="5086350"/>
            <a:ext cx="1193800" cy="749300"/>
          </a:xfrm>
          <a:prstGeom prst="roundRect">
            <a:avLst>
              <a:gd name="adj" fmla="val 12712"/>
            </a:avLst>
          </a:prstGeom>
          <a:solidFill>
            <a:srgbClr val="FBEFD6"/>
          </a:solidFill>
          <a:ln w="12700">
            <a:solidFill>
              <a:srgbClr val="E9A23B"/>
            </a:solidFill>
            <a:prstDash val="solid"/>
          </a:ln>
        </p:spPr>
      </p:sp>
      <p:sp>
        <p:nvSpPr>
          <p:cNvPr id="13" name="Text 11"/>
          <p:cNvSpPr/>
          <p:nvPr/>
        </p:nvSpPr>
        <p:spPr>
          <a:xfrm>
            <a:off x="2260600" y="5194300"/>
            <a:ext cx="1079500" cy="371773"/>
          </a:xfrm>
          <a:prstGeom prst="rect">
            <a:avLst/>
          </a:prstGeom>
          <a:noFill/>
          <a:ln/>
        </p:spPr>
        <p:txBody>
          <a:bodyPr wrap="square" lIns="0" tIns="0" rIns="0" bIns="0" rtlCol="0" anchor="t">
            <a:normAutofit/>
          </a:bodyPr>
          <a:lstStyle/>
          <a:p>
            <a:pPr algn="l" indent="0" marL="0">
              <a:lnSpc>
                <a:spcPts val="1699"/>
              </a:lnSpc>
              <a:buNone/>
            </a:pPr>
            <a:r>
              <a:rPr lang="en-US" sz="1416" b="1" dirty="0">
                <a:solidFill>
                  <a:srgbClr val="1B2A34"/>
                </a:solidFill>
                <a:latin typeface="IBM Plex Sans" pitchFamily="34" charset="0"/>
                <a:ea typeface="IBM Plex Sans" pitchFamily="34" charset="-122"/>
                <a:cs typeface="IBM Plex Sans" pitchFamily="34" charset="-120"/>
              </a:rPr>
              <a:t>Hue-sensor</a:t>
            </a:r>
            <a:endParaRPr lang="en-US" sz="1416" dirty="0"/>
          </a:p>
        </p:txBody>
      </p:sp>
      <p:sp>
        <p:nvSpPr>
          <p:cNvPr id="14" name="Text 12"/>
          <p:cNvSpPr/>
          <p:nvPr/>
        </p:nvSpPr>
        <p:spPr>
          <a:xfrm>
            <a:off x="2260600" y="5566073"/>
            <a:ext cx="1028700" cy="187027"/>
          </a:xfrm>
          <a:prstGeom prst="rect">
            <a:avLst/>
          </a:prstGeom>
          <a:noFill/>
          <a:ln/>
        </p:spPr>
        <p:txBody>
          <a:bodyPr wrap="square" lIns="0" tIns="0" rIns="0" bIns="0" rtlCol="0" anchor="t">
            <a:normAutofit/>
          </a:bodyPr>
          <a:lstStyle/>
          <a:p>
            <a:pPr algn="l" indent="0" marL="0">
              <a:lnSpc>
                <a:spcPts val="1270"/>
              </a:lnSpc>
              <a:buNone/>
            </a:pPr>
            <a:r>
              <a:rPr lang="en-US" sz="907" dirty="0">
                <a:solidFill>
                  <a:srgbClr val="34444E"/>
                </a:solidFill>
                <a:latin typeface="IBM Plex Sans" pitchFamily="34" charset="0"/>
                <a:ea typeface="IBM Plex Sans" pitchFamily="34" charset="-122"/>
                <a:cs typeface="IBM Plex Sans" pitchFamily="34" charset="-120"/>
              </a:rPr>
              <a:t>PIR</a:t>
            </a:r>
            <a:endParaRPr lang="en-US" sz="907" dirty="0"/>
          </a:p>
        </p:txBody>
      </p:sp>
      <p:sp>
        <p:nvSpPr>
          <p:cNvPr id="15" name="Shape 13"/>
          <p:cNvSpPr/>
          <p:nvPr/>
        </p:nvSpPr>
        <p:spPr>
          <a:xfrm>
            <a:off x="4445000" y="1651000"/>
            <a:ext cx="3302000" cy="3962400"/>
          </a:xfrm>
          <a:prstGeom prst="roundRect">
            <a:avLst>
              <a:gd name="adj" fmla="val 3077"/>
            </a:avLst>
          </a:prstGeom>
          <a:solidFill>
            <a:srgbClr val="12222E"/>
          </a:solidFill>
          <a:ln/>
        </p:spPr>
      </p:sp>
      <p:sp>
        <p:nvSpPr>
          <p:cNvPr id="16" name="Text 14"/>
          <p:cNvSpPr/>
          <p:nvPr/>
        </p:nvSpPr>
        <p:spPr>
          <a:xfrm>
            <a:off x="4648200" y="1854200"/>
            <a:ext cx="29824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3EC"/>
                </a:solidFill>
                <a:latin typeface="IBM Plex Sans" pitchFamily="34" charset="0"/>
                <a:ea typeface="IBM Plex Sans" pitchFamily="34" charset="-122"/>
                <a:cs typeface="IBM Plex Sans" pitchFamily="34" charset="-120"/>
              </a:rPr>
              <a:t>ESP32 DevKit V1</a:t>
            </a:r>
            <a:endParaRPr lang="en-US" sz="2000" dirty="0"/>
          </a:p>
        </p:txBody>
      </p:sp>
      <p:sp>
        <p:nvSpPr>
          <p:cNvPr id="17" name="Text 15"/>
          <p:cNvSpPr/>
          <p:nvPr/>
        </p:nvSpPr>
        <p:spPr>
          <a:xfrm>
            <a:off x="4648200" y="2247900"/>
            <a:ext cx="298246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9A23B"/>
                </a:solidFill>
                <a:latin typeface="IBM Plex Sans" pitchFamily="34" charset="0"/>
                <a:ea typeface="IBM Plex Sans" pitchFamily="34" charset="-122"/>
                <a:cs typeface="IBM Plex Sans" pitchFamily="34" charset="-120"/>
              </a:rPr>
              <a:t>MicroPython</a:t>
            </a:r>
            <a:endParaRPr lang="en-US" sz="1400" dirty="0"/>
          </a:p>
        </p:txBody>
      </p:sp>
      <p:sp>
        <p:nvSpPr>
          <p:cNvPr id="18" name="Text 16"/>
          <p:cNvSpPr/>
          <p:nvPr/>
        </p:nvSpPr>
        <p:spPr>
          <a:xfrm>
            <a:off x="4726432" y="2585641"/>
            <a:ext cx="2896616" cy="1269603"/>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C5D0D6"/>
                </a:solidFill>
                <a:latin typeface="IBM Plex Sans" pitchFamily="34" charset="0"/>
                <a:ea typeface="IBM Plex Sans" pitchFamily="34" charset="-122"/>
                <a:cs typeface="IBM Plex Sans" pitchFamily="34" charset="-120"/>
              </a:rPr>
              <a:t>Testlogica voor lamp en beweging</a:t>
            </a:r>
            <a:endParaRPr lang="en-US" sz="1400" dirty="0"/>
          </a:p>
          <a:p>
            <a:pPr algn="l" marL="175768" indent="-175768">
              <a:lnSpc>
                <a:spcPts val="1960"/>
              </a:lnSpc>
              <a:buSzPct val="100000"/>
              <a:buChar char="•"/>
            </a:pPr>
            <a:r>
              <a:rPr lang="en-US" sz="1400" dirty="0">
                <a:solidFill>
                  <a:srgbClr val="C5D0D6"/>
                </a:solidFill>
                <a:latin typeface="IBM Plex Sans" pitchFamily="34" charset="0"/>
                <a:ea typeface="IBM Plex Sans" pitchFamily="34" charset="-122"/>
                <a:cs typeface="IBM Plex Sans" pitchFamily="34" charset="-120"/>
              </a:rPr>
              <a:t>Hue-API via HTTP</a:t>
            </a:r>
            <a:endParaRPr lang="en-US" sz="1400" dirty="0"/>
          </a:p>
          <a:p>
            <a:pPr algn="l" marL="175768" indent="-175768">
              <a:lnSpc>
                <a:spcPts val="1960"/>
              </a:lnSpc>
              <a:buSzPct val="100000"/>
              <a:buChar char="•"/>
            </a:pPr>
            <a:r>
              <a:rPr lang="en-US" sz="1400" dirty="0">
                <a:solidFill>
                  <a:srgbClr val="C5D0D6"/>
                </a:solidFill>
                <a:latin typeface="IBM Plex Sans" pitchFamily="34" charset="0"/>
                <a:ea typeface="IBM Plex Sans" pitchFamily="34" charset="-122"/>
                <a:cs typeface="IBM Plex Sans" pitchFamily="34" charset="-120"/>
              </a:rPr>
              <a:t>Brightsense-client via MQTT</a:t>
            </a:r>
            <a:endParaRPr lang="en-US" sz="1400" dirty="0"/>
          </a:p>
          <a:p>
            <a:pPr algn="l" marL="175768" indent="-175768">
              <a:lnSpc>
                <a:spcPts val="1960"/>
              </a:lnSpc>
              <a:buSzPct val="100000"/>
              <a:buChar char="•"/>
            </a:pPr>
            <a:r>
              <a:rPr lang="en-US" sz="1400" dirty="0">
                <a:solidFill>
                  <a:srgbClr val="C5D0D6"/>
                </a:solidFill>
                <a:latin typeface="IBM Plex Sans" pitchFamily="34" charset="0"/>
                <a:ea typeface="IBM Plex Sans" pitchFamily="34" charset="-122"/>
                <a:cs typeface="IBM Plex Sans" pitchFamily="34" charset="-120"/>
              </a:rPr>
              <a:t>Resultaat op het display</a:t>
            </a:r>
            <a:endParaRPr lang="en-US" sz="1400" dirty="0"/>
          </a:p>
        </p:txBody>
      </p:sp>
      <p:sp>
        <p:nvSpPr>
          <p:cNvPr id="19" name="Shape 17"/>
          <p:cNvSpPr/>
          <p:nvPr/>
        </p:nvSpPr>
        <p:spPr>
          <a:xfrm>
            <a:off x="8896350" y="1657350"/>
            <a:ext cx="2476500" cy="698500"/>
          </a:xfrm>
          <a:prstGeom prst="roundRect">
            <a:avLst>
              <a:gd name="adj" fmla="val 13636"/>
            </a:avLst>
          </a:prstGeom>
          <a:solidFill>
            <a:srgbClr val="E3F1EE"/>
          </a:solidFill>
          <a:ln w="12700">
            <a:solidFill>
              <a:srgbClr val="2E9C8F"/>
            </a:solidFill>
            <a:prstDash val="solid"/>
          </a:ln>
        </p:spPr>
      </p:sp>
      <p:sp>
        <p:nvSpPr>
          <p:cNvPr id="20" name="Text 18"/>
          <p:cNvSpPr/>
          <p:nvPr/>
        </p:nvSpPr>
        <p:spPr>
          <a:xfrm>
            <a:off x="9029700" y="1790700"/>
            <a:ext cx="2276094" cy="23564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B2A34"/>
                </a:solidFill>
                <a:latin typeface="IBM Plex Sans" pitchFamily="34" charset="0"/>
                <a:ea typeface="IBM Plex Sans" pitchFamily="34" charset="-122"/>
                <a:cs typeface="IBM Plex Sans" pitchFamily="34" charset="-120"/>
              </a:rPr>
              <a:t>AS7341</a:t>
            </a:r>
            <a:endParaRPr lang="en-US" sz="1392" dirty="0"/>
          </a:p>
        </p:txBody>
      </p:sp>
      <p:sp>
        <p:nvSpPr>
          <p:cNvPr id="21" name="Text 19"/>
          <p:cNvSpPr/>
          <p:nvPr/>
        </p:nvSpPr>
        <p:spPr>
          <a:xfrm>
            <a:off x="9029700" y="2026345"/>
            <a:ext cx="2276094" cy="221555"/>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34444E"/>
                </a:solidFill>
                <a:latin typeface="IBM Plex Sans" pitchFamily="34" charset="0"/>
                <a:ea typeface="IBM Plex Sans" pitchFamily="34" charset="-122"/>
                <a:cs typeface="IBM Plex Sans" pitchFamily="34" charset="-120"/>
              </a:rPr>
              <a:t>kleur, I²C 0x39</a:t>
            </a:r>
            <a:endParaRPr lang="en-US" sz="1121" dirty="0"/>
          </a:p>
        </p:txBody>
      </p:sp>
      <p:sp>
        <p:nvSpPr>
          <p:cNvPr id="22" name="Shape 20"/>
          <p:cNvSpPr/>
          <p:nvPr/>
        </p:nvSpPr>
        <p:spPr>
          <a:xfrm>
            <a:off x="8896350" y="2470150"/>
            <a:ext cx="2476500" cy="698500"/>
          </a:xfrm>
          <a:prstGeom prst="roundRect">
            <a:avLst>
              <a:gd name="adj" fmla="val 13636"/>
            </a:avLst>
          </a:prstGeom>
          <a:solidFill>
            <a:srgbClr val="E3F1EE"/>
          </a:solidFill>
          <a:ln w="12700">
            <a:solidFill>
              <a:srgbClr val="2E9C8F"/>
            </a:solidFill>
            <a:prstDash val="solid"/>
          </a:ln>
        </p:spPr>
      </p:sp>
      <p:sp>
        <p:nvSpPr>
          <p:cNvPr id="23" name="Text 21"/>
          <p:cNvSpPr/>
          <p:nvPr/>
        </p:nvSpPr>
        <p:spPr>
          <a:xfrm>
            <a:off x="9029700" y="2603500"/>
            <a:ext cx="2276094" cy="23564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B2A34"/>
                </a:solidFill>
                <a:latin typeface="IBM Plex Sans" pitchFamily="34" charset="0"/>
                <a:ea typeface="IBM Plex Sans" pitchFamily="34" charset="-122"/>
                <a:cs typeface="IBM Plex Sans" pitchFamily="34" charset="-120"/>
              </a:rPr>
              <a:t>BH1750</a:t>
            </a:r>
            <a:endParaRPr lang="en-US" sz="1392" dirty="0"/>
          </a:p>
        </p:txBody>
      </p:sp>
      <p:sp>
        <p:nvSpPr>
          <p:cNvPr id="24" name="Text 22"/>
          <p:cNvSpPr/>
          <p:nvPr/>
        </p:nvSpPr>
        <p:spPr>
          <a:xfrm>
            <a:off x="9029700" y="2839145"/>
            <a:ext cx="2276094" cy="221555"/>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34444E"/>
                </a:solidFill>
                <a:latin typeface="IBM Plex Sans" pitchFamily="34" charset="0"/>
                <a:ea typeface="IBM Plex Sans" pitchFamily="34" charset="-122"/>
                <a:cs typeface="IBM Plex Sans" pitchFamily="34" charset="-120"/>
              </a:rPr>
              <a:t>lux, I²C 0x23</a:t>
            </a:r>
            <a:endParaRPr lang="en-US" sz="1121" dirty="0"/>
          </a:p>
        </p:txBody>
      </p:sp>
      <p:sp>
        <p:nvSpPr>
          <p:cNvPr id="25" name="Shape 23"/>
          <p:cNvSpPr/>
          <p:nvPr/>
        </p:nvSpPr>
        <p:spPr>
          <a:xfrm>
            <a:off x="8896350" y="3282950"/>
            <a:ext cx="2476500" cy="698500"/>
          </a:xfrm>
          <a:prstGeom prst="roundRect">
            <a:avLst>
              <a:gd name="adj" fmla="val 13636"/>
            </a:avLst>
          </a:prstGeom>
          <a:solidFill>
            <a:srgbClr val="E3F1EE"/>
          </a:solidFill>
          <a:ln w="12700">
            <a:solidFill>
              <a:srgbClr val="2E9C8F"/>
            </a:solidFill>
            <a:prstDash val="solid"/>
          </a:ln>
        </p:spPr>
      </p:sp>
      <p:sp>
        <p:nvSpPr>
          <p:cNvPr id="26" name="Text 24"/>
          <p:cNvSpPr/>
          <p:nvPr/>
        </p:nvSpPr>
        <p:spPr>
          <a:xfrm>
            <a:off x="9029700" y="3416300"/>
            <a:ext cx="2276094" cy="23564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B2A34"/>
                </a:solidFill>
                <a:latin typeface="IBM Plex Sans" pitchFamily="34" charset="0"/>
                <a:ea typeface="IBM Plex Sans" pitchFamily="34" charset="-122"/>
                <a:cs typeface="IBM Plex Sans" pitchFamily="34" charset="-120"/>
              </a:rPr>
              <a:t>Display</a:t>
            </a:r>
            <a:endParaRPr lang="en-US" sz="1392" dirty="0"/>
          </a:p>
        </p:txBody>
      </p:sp>
      <p:sp>
        <p:nvSpPr>
          <p:cNvPr id="27" name="Text 25"/>
          <p:cNvSpPr/>
          <p:nvPr/>
        </p:nvSpPr>
        <p:spPr>
          <a:xfrm>
            <a:off x="9029700" y="3651945"/>
            <a:ext cx="2276094" cy="221555"/>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34444E"/>
                </a:solidFill>
                <a:latin typeface="IBM Plex Sans" pitchFamily="34" charset="0"/>
                <a:ea typeface="IBM Plex Sans" pitchFamily="34" charset="-122"/>
                <a:cs typeface="IBM Plex Sans" pitchFamily="34" charset="-120"/>
              </a:rPr>
              <a:t>1,3" ST7789, SPI</a:t>
            </a:r>
            <a:endParaRPr lang="en-US" sz="1121" dirty="0"/>
          </a:p>
        </p:txBody>
      </p:sp>
      <p:sp>
        <p:nvSpPr>
          <p:cNvPr id="28" name="Shape 26"/>
          <p:cNvSpPr/>
          <p:nvPr/>
        </p:nvSpPr>
        <p:spPr>
          <a:xfrm>
            <a:off x="8896350" y="4095750"/>
            <a:ext cx="2476500" cy="698500"/>
          </a:xfrm>
          <a:prstGeom prst="roundRect">
            <a:avLst>
              <a:gd name="adj" fmla="val 13636"/>
            </a:avLst>
          </a:prstGeom>
          <a:solidFill>
            <a:srgbClr val="E3F1EE"/>
          </a:solidFill>
          <a:ln w="12700">
            <a:solidFill>
              <a:srgbClr val="2E9C8F"/>
            </a:solidFill>
            <a:prstDash val="solid"/>
          </a:ln>
        </p:spPr>
      </p:sp>
      <p:sp>
        <p:nvSpPr>
          <p:cNvPr id="29" name="Text 27"/>
          <p:cNvSpPr/>
          <p:nvPr/>
        </p:nvSpPr>
        <p:spPr>
          <a:xfrm>
            <a:off x="9029700" y="4229100"/>
            <a:ext cx="2276094" cy="23564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B2A34"/>
                </a:solidFill>
                <a:latin typeface="IBM Plex Sans" pitchFamily="34" charset="0"/>
                <a:ea typeface="IBM Plex Sans" pitchFamily="34" charset="-122"/>
                <a:cs typeface="IBM Plex Sans" pitchFamily="34" charset="-120"/>
              </a:rPr>
              <a:t>Servo SG90</a:t>
            </a:r>
            <a:endParaRPr lang="en-US" sz="1392" dirty="0"/>
          </a:p>
        </p:txBody>
      </p:sp>
      <p:sp>
        <p:nvSpPr>
          <p:cNvPr id="30" name="Text 28"/>
          <p:cNvSpPr/>
          <p:nvPr/>
        </p:nvSpPr>
        <p:spPr>
          <a:xfrm>
            <a:off x="9029700" y="4464745"/>
            <a:ext cx="2276094" cy="221555"/>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34444E"/>
                </a:solidFill>
                <a:latin typeface="IBM Plex Sans" pitchFamily="34" charset="0"/>
                <a:ea typeface="IBM Plex Sans" pitchFamily="34" charset="-122"/>
                <a:cs typeface="IBM Plex Sans" pitchFamily="34" charset="-120"/>
              </a:rPr>
              <a:t>5 V, PWM</a:t>
            </a:r>
            <a:endParaRPr lang="en-US" sz="1121" dirty="0"/>
          </a:p>
        </p:txBody>
      </p:sp>
      <p:sp>
        <p:nvSpPr>
          <p:cNvPr id="31" name="Shape 29"/>
          <p:cNvSpPr/>
          <p:nvPr/>
        </p:nvSpPr>
        <p:spPr>
          <a:xfrm>
            <a:off x="8896350" y="4908550"/>
            <a:ext cx="2476500" cy="698500"/>
          </a:xfrm>
          <a:prstGeom prst="roundRect">
            <a:avLst>
              <a:gd name="adj" fmla="val 13636"/>
            </a:avLst>
          </a:prstGeom>
          <a:solidFill>
            <a:srgbClr val="E3F1EE"/>
          </a:solidFill>
          <a:ln w="12700">
            <a:solidFill>
              <a:srgbClr val="2E9C8F"/>
            </a:solidFill>
            <a:prstDash val="solid"/>
          </a:ln>
        </p:spPr>
      </p:sp>
      <p:sp>
        <p:nvSpPr>
          <p:cNvPr id="32" name="Text 30"/>
          <p:cNvSpPr/>
          <p:nvPr/>
        </p:nvSpPr>
        <p:spPr>
          <a:xfrm>
            <a:off x="9029700" y="5041900"/>
            <a:ext cx="2276094" cy="235645"/>
          </a:xfrm>
          <a:prstGeom prst="rect">
            <a:avLst/>
          </a:prstGeom>
          <a:noFill/>
          <a:ln/>
        </p:spPr>
        <p:txBody>
          <a:bodyPr wrap="square" lIns="0" tIns="0" rIns="0" bIns="0" rtlCol="0" anchor="t">
            <a:normAutofit/>
          </a:bodyPr>
          <a:lstStyle/>
          <a:p>
            <a:pPr algn="l" indent="0" marL="0">
              <a:lnSpc>
                <a:spcPts val="1671"/>
              </a:lnSpc>
              <a:buNone/>
            </a:pPr>
            <a:r>
              <a:rPr lang="en-US" sz="1392" b="1" dirty="0">
                <a:solidFill>
                  <a:srgbClr val="1B2A34"/>
                </a:solidFill>
                <a:latin typeface="IBM Plex Sans" pitchFamily="34" charset="0"/>
                <a:ea typeface="IBM Plex Sans" pitchFamily="34" charset="-122"/>
                <a:cs typeface="IBM Plex Sans" pitchFamily="34" charset="-120"/>
              </a:rPr>
              <a:t>Knop en LED</a:t>
            </a:r>
            <a:endParaRPr lang="en-US" sz="1392" dirty="0"/>
          </a:p>
        </p:txBody>
      </p:sp>
      <p:sp>
        <p:nvSpPr>
          <p:cNvPr id="33" name="Text 31"/>
          <p:cNvSpPr/>
          <p:nvPr/>
        </p:nvSpPr>
        <p:spPr>
          <a:xfrm>
            <a:off x="9029700" y="5277545"/>
            <a:ext cx="2276094" cy="221555"/>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34444E"/>
                </a:solidFill>
                <a:latin typeface="IBM Plex Sans" pitchFamily="34" charset="0"/>
                <a:ea typeface="IBM Plex Sans" pitchFamily="34" charset="-122"/>
                <a:cs typeface="IBM Plex Sans" pitchFamily="34" charset="-120"/>
              </a:rPr>
              <a:t>GPIO27 en status-LED</a:t>
            </a:r>
            <a:endParaRPr lang="en-US" sz="1121" dirty="0"/>
          </a:p>
        </p:txBody>
      </p:sp>
      <p:pic>
        <p:nvPicPr>
          <p:cNvPr id="34" name="Image 0" descr="connector">    </p:cNvPr>
          <p:cNvPicPr>
            <a:picLocks noChangeAspect="1"/>
          </p:cNvPicPr>
          <p:nvPr/>
        </p:nvPicPr>
        <p:blipFill>
          <a:blip r:embed="rId1"/>
          <a:srcRect l="0" r="0" t="0" b="0"/>
          <a:stretch/>
        </p:blipFill>
        <p:spPr>
          <a:xfrm>
            <a:off x="3302000" y="2012950"/>
            <a:ext cx="1193800" cy="101600"/>
          </a:xfrm>
          <a:prstGeom prst="rect">
            <a:avLst/>
          </a:prstGeom>
        </p:spPr>
      </p:pic>
      <p:pic>
        <p:nvPicPr>
          <p:cNvPr id="35" name="Image 1" descr="connector">    </p:cNvPr>
          <p:cNvPicPr>
            <a:picLocks noChangeAspect="1"/>
          </p:cNvPicPr>
          <p:nvPr/>
        </p:nvPicPr>
        <p:blipFill>
          <a:blip r:embed="rId2"/>
          <a:srcRect l="0" r="0" t="0" b="0"/>
          <a:stretch/>
        </p:blipFill>
        <p:spPr>
          <a:xfrm>
            <a:off x="3302000" y="3663950"/>
            <a:ext cx="1193800" cy="101600"/>
          </a:xfrm>
          <a:prstGeom prst="rect">
            <a:avLst/>
          </a:prstGeom>
        </p:spPr>
      </p:pic>
      <p:pic>
        <p:nvPicPr>
          <p:cNvPr id="36" name="Image 2" descr="connector">    </p:cNvPr>
          <p:cNvPicPr>
            <a:picLocks noChangeAspect="1"/>
          </p:cNvPicPr>
          <p:nvPr/>
        </p:nvPicPr>
        <p:blipFill>
          <a:blip r:embed="rId3"/>
          <a:srcRect l="0" r="0" t="0" b="0"/>
          <a:stretch/>
        </p:blipFill>
        <p:spPr>
          <a:xfrm>
            <a:off x="1365250" y="4076700"/>
            <a:ext cx="101600" cy="1054100"/>
          </a:xfrm>
          <a:prstGeom prst="rect">
            <a:avLst/>
          </a:prstGeom>
        </p:spPr>
      </p:pic>
      <p:pic>
        <p:nvPicPr>
          <p:cNvPr id="37" name="Image 3" descr="connector">    </p:cNvPr>
          <p:cNvPicPr>
            <a:picLocks noChangeAspect="1"/>
          </p:cNvPicPr>
          <p:nvPr/>
        </p:nvPicPr>
        <p:blipFill>
          <a:blip r:embed="rId4"/>
          <a:srcRect l="0" r="0" t="0" b="0"/>
          <a:stretch/>
        </p:blipFill>
        <p:spPr>
          <a:xfrm>
            <a:off x="2698750" y="4076700"/>
            <a:ext cx="101600" cy="1054100"/>
          </a:xfrm>
          <a:prstGeom prst="rect">
            <a:avLst/>
          </a:prstGeom>
        </p:spPr>
      </p:pic>
      <p:pic>
        <p:nvPicPr>
          <p:cNvPr id="38" name="Image 4" descr="connector">    </p:cNvPr>
          <p:cNvPicPr>
            <a:picLocks noChangeAspect="1"/>
          </p:cNvPicPr>
          <p:nvPr/>
        </p:nvPicPr>
        <p:blipFill>
          <a:blip r:embed="rId5"/>
          <a:srcRect l="0" r="0" t="0" b="0"/>
          <a:stretch/>
        </p:blipFill>
        <p:spPr>
          <a:xfrm>
            <a:off x="7696200" y="1955800"/>
            <a:ext cx="1244600" cy="101600"/>
          </a:xfrm>
          <a:prstGeom prst="rect">
            <a:avLst/>
          </a:prstGeom>
        </p:spPr>
      </p:pic>
      <p:pic>
        <p:nvPicPr>
          <p:cNvPr id="39" name="Image 5" descr="connector">    </p:cNvPr>
          <p:cNvPicPr>
            <a:picLocks noChangeAspect="1"/>
          </p:cNvPicPr>
          <p:nvPr/>
        </p:nvPicPr>
        <p:blipFill>
          <a:blip r:embed="rId6"/>
          <a:srcRect l="0" r="0" t="0" b="0"/>
          <a:stretch/>
        </p:blipFill>
        <p:spPr>
          <a:xfrm>
            <a:off x="7696200" y="2768600"/>
            <a:ext cx="1244600" cy="101600"/>
          </a:xfrm>
          <a:prstGeom prst="rect">
            <a:avLst/>
          </a:prstGeom>
        </p:spPr>
      </p:pic>
      <p:pic>
        <p:nvPicPr>
          <p:cNvPr id="40" name="Image 6" descr="connector">    </p:cNvPr>
          <p:cNvPicPr>
            <a:picLocks noChangeAspect="1"/>
          </p:cNvPicPr>
          <p:nvPr/>
        </p:nvPicPr>
        <p:blipFill>
          <a:blip r:embed="rId7"/>
          <a:srcRect l="0" r="0" t="0" b="0"/>
          <a:stretch/>
        </p:blipFill>
        <p:spPr>
          <a:xfrm>
            <a:off x="7696200" y="3581400"/>
            <a:ext cx="1244600" cy="101600"/>
          </a:xfrm>
          <a:prstGeom prst="rect">
            <a:avLst/>
          </a:prstGeom>
        </p:spPr>
      </p:pic>
      <p:pic>
        <p:nvPicPr>
          <p:cNvPr id="41" name="Image 7" descr="connector">    </p:cNvPr>
          <p:cNvPicPr>
            <a:picLocks noChangeAspect="1"/>
          </p:cNvPicPr>
          <p:nvPr/>
        </p:nvPicPr>
        <p:blipFill>
          <a:blip r:embed="rId8"/>
          <a:srcRect l="0" r="0" t="0" b="0"/>
          <a:stretch/>
        </p:blipFill>
        <p:spPr>
          <a:xfrm>
            <a:off x="7696200" y="4394200"/>
            <a:ext cx="1244600" cy="101600"/>
          </a:xfrm>
          <a:prstGeom prst="rect">
            <a:avLst/>
          </a:prstGeom>
        </p:spPr>
      </p:pic>
      <p:pic>
        <p:nvPicPr>
          <p:cNvPr id="42" name="Image 8" descr="connector">    </p:cNvPr>
          <p:cNvPicPr>
            <a:picLocks noChangeAspect="1"/>
          </p:cNvPicPr>
          <p:nvPr/>
        </p:nvPicPr>
        <p:blipFill>
          <a:blip r:embed="rId9"/>
          <a:srcRect l="0" r="0" t="0" b="0"/>
          <a:stretch/>
        </p:blipFill>
        <p:spPr>
          <a:xfrm>
            <a:off x="7696200" y="5207000"/>
            <a:ext cx="1244600" cy="101600"/>
          </a:xfrm>
          <a:prstGeom prst="rect">
            <a:avLst/>
          </a:prstGeom>
        </p:spPr>
      </p:pic>
      <p:sp>
        <p:nvSpPr>
          <p:cNvPr id="43" name="Text 32"/>
          <p:cNvSpPr/>
          <p:nvPr/>
        </p:nvSpPr>
        <p:spPr>
          <a:xfrm>
            <a:off x="3327400" y="1784350"/>
            <a:ext cx="1143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MQTT</a:t>
            </a:r>
            <a:endParaRPr lang="en-US" sz="1200" dirty="0"/>
          </a:p>
        </p:txBody>
      </p:sp>
      <p:sp>
        <p:nvSpPr>
          <p:cNvPr id="44" name="Text 33"/>
          <p:cNvSpPr/>
          <p:nvPr/>
        </p:nvSpPr>
        <p:spPr>
          <a:xfrm>
            <a:off x="3327400" y="3435350"/>
            <a:ext cx="11430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HTTP</a:t>
            </a:r>
            <a:endParaRPr lang="en-US" sz="1200" dirty="0"/>
          </a:p>
        </p:txBody>
      </p:sp>
      <p:sp>
        <p:nvSpPr>
          <p:cNvPr id="45" name="Text 34"/>
          <p:cNvSpPr/>
          <p:nvPr/>
        </p:nvSpPr>
        <p:spPr>
          <a:xfrm>
            <a:off x="1485900" y="4521200"/>
            <a:ext cx="12573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Zigbee</a:t>
            </a:r>
            <a:endParaRPr lang="en-US" sz="1200" dirty="0"/>
          </a:p>
        </p:txBody>
      </p:sp>
      <p:sp>
        <p:nvSpPr>
          <p:cNvPr id="46" name="Text 35"/>
          <p:cNvSpPr/>
          <p:nvPr/>
        </p:nvSpPr>
        <p:spPr>
          <a:xfrm>
            <a:off x="7721600" y="172720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I²C</a:t>
            </a:r>
            <a:endParaRPr lang="en-US" sz="1200" dirty="0"/>
          </a:p>
        </p:txBody>
      </p:sp>
      <p:sp>
        <p:nvSpPr>
          <p:cNvPr id="47" name="Text 36"/>
          <p:cNvSpPr/>
          <p:nvPr/>
        </p:nvSpPr>
        <p:spPr>
          <a:xfrm>
            <a:off x="7721600" y="254000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I²C</a:t>
            </a:r>
            <a:endParaRPr lang="en-US" sz="1200" dirty="0"/>
          </a:p>
        </p:txBody>
      </p:sp>
      <p:sp>
        <p:nvSpPr>
          <p:cNvPr id="48" name="Text 37"/>
          <p:cNvSpPr/>
          <p:nvPr/>
        </p:nvSpPr>
        <p:spPr>
          <a:xfrm>
            <a:off x="7721600" y="335280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SPI</a:t>
            </a:r>
            <a:endParaRPr lang="en-US" sz="1200" dirty="0"/>
          </a:p>
        </p:txBody>
      </p:sp>
      <p:sp>
        <p:nvSpPr>
          <p:cNvPr id="49" name="Text 38"/>
          <p:cNvSpPr/>
          <p:nvPr/>
        </p:nvSpPr>
        <p:spPr>
          <a:xfrm>
            <a:off x="7721600" y="416560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PWM</a:t>
            </a:r>
            <a:endParaRPr lang="en-US" sz="1200" dirty="0"/>
          </a:p>
        </p:txBody>
      </p:sp>
      <p:sp>
        <p:nvSpPr>
          <p:cNvPr id="50" name="Text 39"/>
          <p:cNvSpPr/>
          <p:nvPr/>
        </p:nvSpPr>
        <p:spPr>
          <a:xfrm>
            <a:off x="7721600" y="4978400"/>
            <a:ext cx="1193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4444E"/>
                </a:solidFill>
                <a:latin typeface="IBM Plex Sans" pitchFamily="34" charset="0"/>
                <a:ea typeface="IBM Plex Sans" pitchFamily="34" charset="-122"/>
                <a:cs typeface="IBM Plex Sans" pitchFamily="34" charset="-120"/>
              </a:rPr>
              <a:t>GPIO</a:t>
            </a:r>
            <a:endParaRPr lang="en-US" sz="1200" dirty="0"/>
          </a:p>
        </p:txBody>
      </p:sp>
      <p:sp>
        <p:nvSpPr>
          <p:cNvPr id="51" name="Text 40"/>
          <p:cNvSpPr/>
          <p:nvPr/>
        </p:nvSpPr>
        <p:spPr>
          <a:xfrm>
            <a:off x="812800" y="6238280"/>
            <a:ext cx="98107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Lamp en sensoren staan in een donkere doos; de servo beweegt een warm plaatje voor de Hue-sensor.</a:t>
            </a:r>
            <a:endParaRPr lang="en-US" sz="1200" dirty="0"/>
          </a:p>
        </p:txBody>
      </p:sp>
      <p:sp>
        <p:nvSpPr>
          <p:cNvPr id="52" name="Text 4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Light-Colour-Led-Testbench · Evaluatie 1</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5</a:t>
            </a:r>
            <a:endParaRPr lang="en-US" sz="1200" dirty="0"/>
          </a:p>
        </p:txBody>
      </p:sp>
      <p:sp>
        <p:nvSpPr>
          <p:cNvPr id="4" name="Text 2"/>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4"/>
                </a:solidFill>
                <a:latin typeface="IBM Plex Sans" pitchFamily="34" charset="0"/>
                <a:ea typeface="IBM Plex Sans" pitchFamily="34" charset="-122"/>
                <a:cs typeface="IBM Plex Sans" pitchFamily="34" charset="-120"/>
              </a:rPr>
              <a:t>Software en meetopstelling</a:t>
            </a:r>
            <a:endParaRPr lang="en-US" sz="3200" dirty="0"/>
          </a:p>
        </p:txBody>
      </p:sp>
      <p:sp>
        <p:nvSpPr>
          <p:cNvPr id="5" name="Text 3"/>
          <p:cNvSpPr/>
          <p:nvPr/>
        </p:nvSpPr>
        <p:spPr>
          <a:xfrm>
            <a:off x="946150" y="522605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Software-opbouw · Milan</a:t>
            </a:r>
            <a:endParaRPr lang="en-US" sz="1200" dirty="0"/>
          </a:p>
        </p:txBody>
      </p:sp>
      <p:sp>
        <p:nvSpPr>
          <p:cNvPr id="6" name="Shape 4"/>
          <p:cNvSpPr/>
          <p:nvPr/>
        </p:nvSpPr>
        <p:spPr>
          <a:xfrm>
            <a:off x="272455" y="1463675"/>
            <a:ext cx="4368998" cy="4444405"/>
          </a:xfrm>
          <a:prstGeom prst="roundRect">
            <a:avLst>
              <a:gd name="adj" fmla="val 2253"/>
            </a:avLst>
          </a:prstGeom>
          <a:solidFill>
            <a:srgbClr val="FFFFFF"/>
          </a:solidFill>
          <a:ln w="6350">
            <a:solidFill>
              <a:srgbClr val="D5D1C2"/>
            </a:solidFill>
            <a:prstDash val="solid"/>
          </a:ln>
        </p:spPr>
      </p:sp>
      <p:pic>
        <p:nvPicPr>
          <p:cNvPr id="7" name="Image 0" descr="Software-opbouw: ESP32 met Brightsense-framework, sensoren en modules, device.py en MQTT naar BrightLinq">    </p:cNvPr>
          <p:cNvPicPr>
            <a:picLocks noChangeAspect="1"/>
          </p:cNvPicPr>
          <p:nvPr/>
        </p:nvPicPr>
        <p:blipFill>
          <a:blip r:embed="rId1"/>
          <a:srcRect l="-680" r="-680" t="0" b="0"/>
          <a:stretch/>
        </p:blipFill>
        <p:spPr>
          <a:xfrm>
            <a:off x="402630" y="1593850"/>
            <a:ext cx="4076700" cy="4064000"/>
          </a:xfrm>
          <a:prstGeom prst="rect">
            <a:avLst/>
          </a:prstGeom>
        </p:spPr>
      </p:pic>
      <p:sp>
        <p:nvSpPr>
          <p:cNvPr id="8" name="Shape 5"/>
          <p:cNvSpPr/>
          <p:nvPr/>
        </p:nvSpPr>
        <p:spPr>
          <a:xfrm>
            <a:off x="4841875" y="1463675"/>
            <a:ext cx="3022600" cy="4108450"/>
          </a:xfrm>
          <a:prstGeom prst="roundRect">
            <a:avLst>
              <a:gd name="adj" fmla="val 3256"/>
            </a:avLst>
          </a:prstGeom>
          <a:solidFill>
            <a:srgbClr val="FFFFFF"/>
          </a:solidFill>
          <a:ln w="6350">
            <a:solidFill>
              <a:srgbClr val="D5D1C2"/>
            </a:solidFill>
            <a:prstDash val="solid"/>
          </a:ln>
        </p:spPr>
      </p:sp>
      <p:pic>
        <p:nvPicPr>
          <p:cNvPr id="9" name="Image 1" descr="Meetopstelling: Hue-lamp op vaste afstand van AS7341 en BH1750 in een donkere behuizing, verbonden met ESP32, display en BrightLinq">    </p:cNvPr>
          <p:cNvPicPr>
            <a:picLocks noChangeAspect="1"/>
          </p:cNvPicPr>
          <p:nvPr/>
        </p:nvPicPr>
        <p:blipFill>
          <a:blip r:embed="rId2"/>
          <a:srcRect l="-17" r="-17" t="0" b="0"/>
          <a:stretch/>
        </p:blipFill>
        <p:spPr>
          <a:xfrm>
            <a:off x="4972050" y="1593850"/>
            <a:ext cx="2762250" cy="3556000"/>
          </a:xfrm>
          <a:prstGeom prst="rect">
            <a:avLst/>
          </a:prstGeom>
        </p:spPr>
      </p:pic>
      <p:sp>
        <p:nvSpPr>
          <p:cNvPr id="10" name="Text 6"/>
          <p:cNvSpPr/>
          <p:nvPr/>
        </p:nvSpPr>
        <p:spPr>
          <a:xfrm>
            <a:off x="4972050" y="5226050"/>
            <a:ext cx="28451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Meetopstelling · Milan</a:t>
            </a:r>
            <a:endParaRPr lang="en-US" sz="1200" dirty="0"/>
          </a:p>
        </p:txBody>
      </p:sp>
      <p:sp>
        <p:nvSpPr>
          <p:cNvPr id="11" name="Shape 7"/>
          <p:cNvSpPr/>
          <p:nvPr/>
        </p:nvSpPr>
        <p:spPr>
          <a:xfrm>
            <a:off x="8070850" y="1460500"/>
            <a:ext cx="3308350" cy="4114800"/>
          </a:xfrm>
          <a:prstGeom prst="roundRect">
            <a:avLst>
              <a:gd name="adj" fmla="val 3071"/>
            </a:avLst>
          </a:prstGeom>
          <a:solidFill>
            <a:srgbClr val="12222E"/>
          </a:solidFill>
          <a:ln/>
        </p:spPr>
      </p:sp>
      <p:sp>
        <p:nvSpPr>
          <p:cNvPr id="12" name="Text 8"/>
          <p:cNvSpPr/>
          <p:nvPr/>
        </p:nvSpPr>
        <p:spPr>
          <a:xfrm>
            <a:off x="8299450" y="1689100"/>
            <a:ext cx="293668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Hoe het samenhangt</a:t>
            </a:r>
            <a:endParaRPr lang="en-US" sz="1800" dirty="0"/>
          </a:p>
        </p:txBody>
      </p:sp>
      <p:sp>
        <p:nvSpPr>
          <p:cNvPr id="13" name="Text 9"/>
          <p:cNvSpPr/>
          <p:nvPr/>
        </p:nvSpPr>
        <p:spPr>
          <a:xfrm>
            <a:off x="8384794" y="2090341"/>
            <a:ext cx="2843721" cy="2798366"/>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C5D0D6"/>
                </a:solidFill>
                <a:latin typeface="IBM Plex Sans" pitchFamily="34" charset="0"/>
                <a:ea typeface="IBM Plex Sans" pitchFamily="34" charset="-122"/>
                <a:cs typeface="IBM Plex Sans" pitchFamily="34" charset="-120"/>
              </a:rPr>
              <a:t>BrightLinq-server: REST API, MQTT-broker en device discovery</a:t>
            </a:r>
            <a:endParaRPr lang="en-US" sz="1300" dirty="0"/>
          </a:p>
          <a:p>
            <a:pPr algn="l" marL="168656" indent="-168656">
              <a:lnSpc>
                <a:spcPts val="1820"/>
              </a:lnSpc>
              <a:buSzPct val="100000"/>
              <a:buChar char="•"/>
            </a:pPr>
            <a:r>
              <a:rPr lang="en-US" sz="1300" dirty="0">
                <a:solidFill>
                  <a:srgbClr val="C5D0D6"/>
                </a:solidFill>
                <a:latin typeface="IBM Plex Sans" pitchFamily="34" charset="0"/>
                <a:ea typeface="IBM Plex Sans" pitchFamily="34" charset="-122"/>
                <a:cs typeface="IBM Plex Sans" pitchFamily="34" charset="-120"/>
              </a:rPr>
              <a:t>Brightsense-client op de ESP32: configuration.py, main.py, framework/device.py en framework/* voor sensoren en modules</a:t>
            </a:r>
            <a:endParaRPr lang="en-US" sz="1300" dirty="0"/>
          </a:p>
          <a:p>
            <a:pPr algn="l" marL="168656" indent="-168656">
              <a:lnSpc>
                <a:spcPts val="1820"/>
              </a:lnSpc>
              <a:buSzPct val="100000"/>
              <a:buChar char="•"/>
            </a:pPr>
            <a:r>
              <a:rPr lang="en-US" sz="1300" dirty="0">
                <a:solidFill>
                  <a:srgbClr val="C5D0D6"/>
                </a:solidFill>
                <a:latin typeface="IBM Plex Sans" pitchFamily="34" charset="0"/>
                <a:ea typeface="IBM Plex Sans" pitchFamily="34" charset="-122"/>
                <a:cs typeface="IBM Plex Sans" pitchFamily="34" charset="-120"/>
              </a:rPr>
              <a:t>De lamp staat op vaste afstand en positie van de sensoren, in een donkere behuizing</a:t>
            </a:r>
            <a:endParaRPr lang="en-US" sz="1300" dirty="0"/>
          </a:p>
          <a:p>
            <a:pPr algn="l" marL="168656" indent="-168656">
              <a:lnSpc>
                <a:spcPts val="1820"/>
              </a:lnSpc>
              <a:buSzPct val="100000"/>
              <a:buChar char="•"/>
            </a:pPr>
            <a:r>
              <a:rPr lang="en-US" sz="1300" dirty="0">
                <a:solidFill>
                  <a:srgbClr val="C5D0D6"/>
                </a:solidFill>
                <a:latin typeface="IBM Plex Sans" pitchFamily="34" charset="0"/>
                <a:ea typeface="IBM Plex Sans" pitchFamily="34" charset="-122"/>
                <a:cs typeface="IBM Plex Sans" pitchFamily="34" charset="-120"/>
              </a:rPr>
              <a:t>Het eindresultaat gaat via MQTT naar de server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22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C"/>
                </a:solidFill>
                <a:latin typeface="IBM Plex Sans" pitchFamily="34" charset="0"/>
                <a:ea typeface="IBM Plex Sans" pitchFamily="34" charset="-122"/>
                <a:cs typeface="IBM Plex Sans" pitchFamily="34" charset="-120"/>
              </a:rPr>
              <a:t>Technische keuzes en bronnen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75680"/>
          <a:ext cx="10553700" cy="2968030"/>
        </p:xfrm>
        <a:graphic>
          <a:graphicData uri="http://schemas.openxmlformats.org/drawingml/2006/table">
            <a:tbl>
              <a:tblPr/>
              <a:tblGrid>
                <a:gridCol w="2532888"/>
                <a:gridCol w="4221480"/>
                <a:gridCol w="3799332"/>
              </a:tblGrid>
              <a:tr h="332581">
                <a:tc>
                  <a:txBody>
                    <a:bodyPr/>
                    <a:lstStyle/>
                    <a:p>
                      <a:pPr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Keuze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545F66"/>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545F66"/>
                      </a:solidFill>
                      <a:prstDash val="solid"/>
                      <a:round/>
                      <a:headEnd type="none" w="med" len="med"/>
                      <a:tailEnd type="none" w="med" len="med"/>
                    </a:lnB>
                    <a:solidFill>
                      <a:srgbClr val="25333E"/>
                    </a:solidFill>
                  </a:tcPr>
                </a:tc>
                <a:tc>
                  <a:txBody>
                    <a:bodyPr/>
                    <a:lstStyle/>
                    <a:p>
                      <a:pPr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Waarom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45F66"/>
                      </a:solidFill>
                      <a:prstDash val="solid"/>
                      <a:round/>
                      <a:headEnd type="none" w="med" len="med"/>
                      <a:tailEnd type="none" w="med" len="med"/>
                    </a:lnL>
                    <a:lnR w="12700" cap="flat" cmpd="sng" algn="ctr">
                      <a:solidFill>
                        <a:srgbClr val="545F66"/>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545F66"/>
                      </a:solidFill>
                      <a:prstDash val="solid"/>
                      <a:round/>
                      <a:headEnd type="none" w="med" len="med"/>
                      <a:tailEnd type="none" w="med" len="med"/>
                    </a:lnB>
                    <a:solidFill>
                      <a:srgbClr val="25333E"/>
                    </a:solidFill>
                  </a:tcPr>
                </a:tc>
                <a:tc>
                  <a:txBody>
                    <a:bodyPr/>
                    <a:lstStyle/>
                    <a:p>
                      <a:pPr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Bron of controle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545F66"/>
                      </a:solidFill>
                      <a:prstDash val="solid"/>
                      <a:round/>
                      <a:headEnd type="none" w="med" len="med"/>
                      <a:tailEnd type="none" w="med" len="med"/>
                    </a:lnL>
                    <a:lnR w="12700" cap="flat" cmpd="sng" algn="ctr">
                      <a:solidFill>
                        <a:srgbClr val="545F66"/>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545F66"/>
                      </a:solidFill>
                      <a:prstDash val="solid"/>
                      <a:round/>
                      <a:headEnd type="none" w="med" len="med"/>
                      <a:tailEnd type="none" w="med" len="med"/>
                    </a:lnB>
                    <a:solidFill>
                      <a:srgbClr val="25333E"/>
                    </a:solidFill>
                  </a:tcPr>
                </a:tc>
              </a:tr>
              <a:tr h="545902">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AS7341 voor kleur, niet TCS34725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545F66"/>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10 spectrale kanalen tegen 4: nauwkeuriger kleurcontrole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545F66"/>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Adafruit-productpagina, I²C 0x39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545F66"/>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r h="332581">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BH1750 voor lux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Eenvoudige luxmeting; adres 0x23 botst niet met 0x39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Productpagina, I²C-adressen vergeleken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r h="332581">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Servo SG90, geen DC-motor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Vaste positie, één PWM-draad, geen driver nodig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Productpagina: 4,8 tot 6 V, voeding op 5 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r h="545902">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Warm plaatje voor de PIR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Een PIR reageert op warmteverschil, niet op een koud voorwerp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Werking van PIR-sensoren; nog te testen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r h="332581">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Hue Bridge met lokale 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Zigbee-lamp en -sensor zijn enkel via de Bridge bereikbaar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Philips Hue-productinformatie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r h="545902">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MQTT naar BrightLinq</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Zelfde protocol als het Brightsense-clientframework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680"/>
                        </a:lnSpc>
                        <a:buNone/>
                      </a:pPr>
                      <a:r>
                        <a:rPr lang="en-US" sz="1200" dirty="0">
                          <a:solidFill>
                            <a:srgbClr val="EEF1F2"/>
                          </a:solidFill>
                          <a:latin typeface="IBM Plex Sans" pitchFamily="34" charset="0"/>
                          <a:ea typeface="IBM Plex Sans" pitchFamily="34" charset="-122"/>
                          <a:cs typeface="IBM Plex Sans" pitchFamily="34" charset="-120"/>
                        </a:rPr>
                        <a:t>API-documentatie van BrightLinq en communicatietest met nepsensor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bl>
          </a:graphicData>
        </a:graphic>
      </p:graphicFrame>
      <p:sp>
        <p:nvSpPr>
          <p:cNvPr id="4" name="Text 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BF"/>
                </a:solidFill>
                <a:latin typeface="IBM Plex Sans" pitchFamily="34" charset="0"/>
                <a:ea typeface="IBM Plex Sans" pitchFamily="34" charset="-122"/>
                <a:cs typeface="IBM Plex Sans" pitchFamily="34" charset="-120"/>
              </a:rPr>
              <a:t>Light-Colour-Led-Testbench · Evaluatie 1</a:t>
            </a:r>
            <a:endParaRPr lang="en-US" sz="1200" dirty="0"/>
          </a:p>
        </p:txBody>
      </p:sp>
      <p:sp>
        <p:nvSpPr>
          <p:cNvPr id="5" name="Text 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7BF"/>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4"/>
                </a:solidFill>
                <a:latin typeface="IBM Plex Sans" pitchFamily="34" charset="0"/>
                <a:ea typeface="IBM Plex Sans" pitchFamily="34" charset="-122"/>
                <a:cs typeface="IBM Plex Sans" pitchFamily="34" charset="-120"/>
              </a:rPr>
              <a:t>Voortgang en volgende stappen</a:t>
            </a:r>
            <a:endParaRPr lang="en-US" sz="3200" dirty="0"/>
          </a:p>
        </p:txBody>
      </p:sp>
      <p:sp>
        <p:nvSpPr>
          <p:cNvPr id="3" name="Text 1"/>
          <p:cNvSpPr/>
          <p:nvPr/>
        </p:nvSpPr>
        <p:spPr>
          <a:xfrm>
            <a:off x="812800" y="1513780"/>
            <a:ext cx="52324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7A70"/>
                </a:solidFill>
                <a:latin typeface="IBM Plex Sans" pitchFamily="34" charset="0"/>
                <a:ea typeface="IBM Plex Sans" pitchFamily="34" charset="-122"/>
                <a:cs typeface="IBM Plex Sans" pitchFamily="34" charset="-120"/>
              </a:rPr>
              <a:t>Al gedaan</a:t>
            </a:r>
            <a:endParaRPr lang="en-US" sz="1800" dirty="0"/>
          </a:p>
        </p:txBody>
      </p:sp>
      <p:sp>
        <p:nvSpPr>
          <p:cNvPr id="4" name="Text 2"/>
          <p:cNvSpPr/>
          <p:nvPr/>
        </p:nvSpPr>
        <p:spPr>
          <a:xfrm>
            <a:off x="891032" y="1915021"/>
            <a:ext cx="5146548" cy="2264966"/>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34444E"/>
                </a:solidFill>
                <a:latin typeface="IBM Plex Sans" pitchFamily="34" charset="0"/>
                <a:ea typeface="IBM Plex Sans" pitchFamily="34" charset="-122"/>
                <a:cs typeface="IBM Plex Sans" pitchFamily="34" charset="-120"/>
              </a:rPr>
              <a:t>Onderdelenlijst verbeterd: DC-motor werd servo, Bridge en bewegingssensor toegevoegd</a:t>
            </a:r>
            <a:endParaRPr lang="en-US" sz="1400" dirty="0"/>
          </a:p>
          <a:p>
            <a:pPr algn="l" marL="175768" indent="-175768">
              <a:lnSpc>
                <a:spcPts val="1960"/>
              </a:lnSpc>
              <a:buSzPct val="100000"/>
              <a:buChar char="•"/>
            </a:pPr>
            <a:r>
              <a:rPr lang="en-US" sz="1400" dirty="0">
                <a:solidFill>
                  <a:srgbClr val="34444E"/>
                </a:solidFill>
                <a:latin typeface="IBM Plex Sans" pitchFamily="34" charset="0"/>
                <a:ea typeface="IBM Plex Sans" pitchFamily="34" charset="-122"/>
                <a:cs typeface="IBM Plex Sans" pitchFamily="34" charset="-120"/>
              </a:rPr>
              <a:t>Kostenanalyse met bestelreferenties en alternatieven: € 79,72 incl. btw en verzending</a:t>
            </a:r>
            <a:endParaRPr lang="en-US" sz="1400" dirty="0"/>
          </a:p>
          <a:p>
            <a:pPr algn="l" marL="175768" indent="-175768">
              <a:lnSpc>
                <a:spcPts val="1960"/>
              </a:lnSpc>
              <a:buSzPct val="100000"/>
              <a:buChar char="•"/>
            </a:pPr>
            <a:r>
              <a:rPr lang="en-US" sz="1400" dirty="0">
                <a:solidFill>
                  <a:srgbClr val="34444E"/>
                </a:solidFill>
                <a:latin typeface="IBM Plex Sans" pitchFamily="34" charset="0"/>
                <a:ea typeface="IBM Plex Sans" pitchFamily="34" charset="-122"/>
                <a:cs typeface="IBM Plex Sans" pitchFamily="34" charset="-120"/>
              </a:rPr>
              <a:t>Communicatietest voor BrightLinq: nepsensor op de ESP32 en een laptop-server</a:t>
            </a:r>
            <a:endParaRPr lang="en-US" sz="1400" dirty="0"/>
          </a:p>
          <a:p>
            <a:pPr algn="l" marL="175768" indent="-175768">
              <a:lnSpc>
                <a:spcPts val="1960"/>
              </a:lnSpc>
              <a:buSzPct val="100000"/>
              <a:buChar char="•"/>
            </a:pPr>
            <a:r>
              <a:rPr lang="en-US" sz="1400" dirty="0">
                <a:solidFill>
                  <a:srgbClr val="34444E"/>
                </a:solidFill>
                <a:latin typeface="IBM Plex Sans" pitchFamily="34" charset="0"/>
                <a:ea typeface="IBM Plex Sans" pitchFamily="34" charset="-122"/>
                <a:cs typeface="IBM Plex Sans" pitchFamily="34" charset="-120"/>
              </a:rPr>
              <a:t>Framework uitgezocht: BrightLinq-server, Brightsense-client en software-schema</a:t>
            </a:r>
            <a:endParaRPr lang="en-US" sz="1400" dirty="0"/>
          </a:p>
          <a:p>
            <a:pPr algn="l" marL="175768" indent="-175768">
              <a:lnSpc>
                <a:spcPts val="1960"/>
              </a:lnSpc>
              <a:buSzPct val="100000"/>
              <a:buChar char="•"/>
            </a:pPr>
            <a:r>
              <a:rPr lang="en-US" sz="1400" dirty="0">
                <a:solidFill>
                  <a:srgbClr val="34444E"/>
                </a:solidFill>
                <a:latin typeface="IBM Plex Sans" pitchFamily="34" charset="0"/>
                <a:ea typeface="IBM Plex Sans" pitchFamily="34" charset="-122"/>
                <a:cs typeface="IBM Plex Sans" pitchFamily="34" charset="-120"/>
              </a:rPr>
              <a:t>Meetopstelling uitgewerkt en documentatie op GitHub</a:t>
            </a:r>
            <a:endParaRPr lang="en-US" sz="1400" dirty="0"/>
          </a:p>
        </p:txBody>
      </p:sp>
      <p:sp>
        <p:nvSpPr>
          <p:cNvPr id="5" name="Text 3"/>
          <p:cNvSpPr/>
          <p:nvPr/>
        </p:nvSpPr>
        <p:spPr>
          <a:xfrm>
            <a:off x="6299200" y="1513780"/>
            <a:ext cx="52324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7A70"/>
                </a:solidFill>
                <a:latin typeface="IBM Plex Sans" pitchFamily="34" charset="0"/>
                <a:ea typeface="IBM Plex Sans" pitchFamily="34" charset="-122"/>
                <a:cs typeface="IBM Plex Sans" pitchFamily="34" charset="-120"/>
              </a:rPr>
              <a:t>Volgende stappen</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11900" y="1927721"/>
          <a:ext cx="5067300" cy="2754709"/>
        </p:xfrm>
        <a:graphic>
          <a:graphicData uri="http://schemas.openxmlformats.org/drawingml/2006/table">
            <a:tbl>
              <a:tblPr/>
              <a:tblGrid>
                <a:gridCol w="2837688"/>
                <a:gridCol w="1114806"/>
                <a:gridCol w="1114806"/>
              </a:tblGrid>
              <a:tr h="332581">
                <a:tc>
                  <a:txBody>
                    <a:bodyPr/>
                    <a:lstStyle/>
                    <a:p>
                      <a:pPr indent="0" marL="0">
                        <a:lnSpc>
                          <a:spcPts val="1680"/>
                        </a:lnSpc>
                        <a:buNone/>
                      </a:pPr>
                      <a:r>
                        <a:rPr lang="en-US" sz="1200" b="1" dirty="0">
                          <a:solidFill>
                            <a:srgbClr val="1B2A34"/>
                          </a:solidFill>
                          <a:latin typeface="IBM Plex Sans" pitchFamily="34" charset="0"/>
                          <a:ea typeface="IBM Plex Sans" pitchFamily="34" charset="-122"/>
                          <a:cs typeface="IBM Plex Sans" pitchFamily="34" charset="-120"/>
                        </a:rPr>
                        <a:t>Taak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B2A34"/>
                          </a:solidFill>
                          <a:latin typeface="IBM Plex Sans" pitchFamily="34" charset="0"/>
                          <a:ea typeface="IBM Plex Sans" pitchFamily="34" charset="-122"/>
                          <a:cs typeface="IBM Plex Sans" pitchFamily="34" charset="-120"/>
                        </a:rPr>
                        <a:t>Wie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B2A34"/>
                          </a:solidFill>
                          <a:latin typeface="IBM Plex Sans" pitchFamily="34" charset="0"/>
                          <a:ea typeface="IBM Plex Sans" pitchFamily="34" charset="-122"/>
                          <a:cs typeface="IBM Plex Sans" pitchFamily="34" charset="-120"/>
                        </a:rPr>
                        <a:t>Deadline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2581">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Onderdelen bestellen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Runar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27 okt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902">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Hue-materiaal bevestigen bij de docent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Runar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27 okt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902">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Opbouw op breadboard en sensoren testen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Milan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week 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3D-geprinte houders ontwerpen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Milan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week 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Code lamp-test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Milan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week 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2581">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Code bewegingstest en MQTT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Runar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B2A34"/>
                          </a:solidFill>
                          <a:latin typeface="IBM Plex Sans" pitchFamily="34" charset="0"/>
                          <a:ea typeface="IBM Plex Sans" pitchFamily="34" charset="-122"/>
                          <a:cs typeface="IBM Plex Sans" pitchFamily="34" charset="-120"/>
                        </a:rPr>
                        <a:t>week 45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Light-Colour-Led-Testbench · Evaluatie 1</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6"/>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2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C"/>
                </a:solidFill>
                <a:latin typeface="IBM Plex Sans" pitchFamily="34" charset="0"/>
                <a:ea typeface="IBM Plex Sans" pitchFamily="34" charset="-122"/>
                <a:cs typeface="IBM Plex Sans" pitchFamily="34" charset="-120"/>
              </a:rPr>
              <a:t>Planning en taakverdeling</a:t>
            </a:r>
            <a:endParaRPr lang="en-US" sz="3200" dirty="0"/>
          </a:p>
        </p:txBody>
      </p:sp>
      <p:sp>
        <p:nvSpPr>
          <p:cNvPr id="3" name="Shape 1"/>
          <p:cNvSpPr/>
          <p:nvPr/>
        </p:nvSpPr>
        <p:spPr>
          <a:xfrm>
            <a:off x="812800" y="1513780"/>
            <a:ext cx="2527300" cy="1476871"/>
          </a:xfrm>
          <a:prstGeom prst="roundRect">
            <a:avLst>
              <a:gd name="adj" fmla="val 6879"/>
            </a:avLst>
          </a:prstGeom>
          <a:solidFill>
            <a:srgbClr val="1B3342"/>
          </a:solidFill>
          <a:ln/>
        </p:spPr>
      </p:sp>
      <p:sp>
        <p:nvSpPr>
          <p:cNvPr id="4" name="Text 2"/>
          <p:cNvSpPr/>
          <p:nvPr/>
        </p:nvSpPr>
        <p:spPr>
          <a:xfrm>
            <a:off x="1016000" y="17169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26–27 OKT</a:t>
            </a:r>
            <a:endParaRPr lang="en-US" sz="1200" dirty="0"/>
          </a:p>
        </p:txBody>
      </p:sp>
      <p:sp>
        <p:nvSpPr>
          <p:cNvPr id="5" name="Text 3"/>
          <p:cNvSpPr/>
          <p:nvPr/>
        </p:nvSpPr>
        <p:spPr>
          <a:xfrm>
            <a:off x="1016000" y="200650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C"/>
                </a:solidFill>
                <a:latin typeface="IBM Plex Sans" pitchFamily="34" charset="0"/>
                <a:ea typeface="IBM Plex Sans" pitchFamily="34" charset="-122"/>
                <a:cs typeface="IBM Plex Sans" pitchFamily="34" charset="-120"/>
              </a:rPr>
              <a:t>Bestellen</a:t>
            </a:r>
            <a:endParaRPr lang="en-US" sz="1700" dirty="0"/>
          </a:p>
        </p:txBody>
      </p:sp>
      <p:sp>
        <p:nvSpPr>
          <p:cNvPr id="6" name="Text 4"/>
          <p:cNvSpPr/>
          <p:nvPr/>
        </p:nvSpPr>
        <p:spPr>
          <a:xfrm>
            <a:off x="1016000" y="2341761"/>
            <a:ext cx="21845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5D0D6"/>
                </a:solidFill>
                <a:latin typeface="IBM Plex Sans" pitchFamily="34" charset="0"/>
                <a:ea typeface="IBM Plex Sans" pitchFamily="34" charset="-122"/>
                <a:cs typeface="IBM Plex Sans" pitchFamily="34" charset="-120"/>
              </a:rPr>
              <a:t>Vier webshops, Hue-materiaal bevestigen</a:t>
            </a:r>
            <a:endParaRPr lang="en-US" sz="1300" dirty="0"/>
          </a:p>
        </p:txBody>
      </p:sp>
      <p:sp>
        <p:nvSpPr>
          <p:cNvPr id="7" name="Shape 5"/>
          <p:cNvSpPr/>
          <p:nvPr/>
        </p:nvSpPr>
        <p:spPr>
          <a:xfrm>
            <a:off x="3492500" y="1513780"/>
            <a:ext cx="2527300" cy="1476871"/>
          </a:xfrm>
          <a:prstGeom prst="roundRect">
            <a:avLst>
              <a:gd name="adj" fmla="val 6879"/>
            </a:avLst>
          </a:prstGeom>
          <a:solidFill>
            <a:srgbClr val="1B3342"/>
          </a:solidFill>
          <a:ln/>
        </p:spPr>
      </p:sp>
      <p:sp>
        <p:nvSpPr>
          <p:cNvPr id="8" name="Text 6"/>
          <p:cNvSpPr/>
          <p:nvPr/>
        </p:nvSpPr>
        <p:spPr>
          <a:xfrm>
            <a:off x="3695700" y="17169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TOT 5 NOV</a:t>
            </a:r>
            <a:endParaRPr lang="en-US" sz="1200" dirty="0"/>
          </a:p>
        </p:txBody>
      </p:sp>
      <p:sp>
        <p:nvSpPr>
          <p:cNvPr id="9" name="Text 7"/>
          <p:cNvSpPr/>
          <p:nvPr/>
        </p:nvSpPr>
        <p:spPr>
          <a:xfrm>
            <a:off x="3695700" y="200650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C"/>
                </a:solidFill>
                <a:latin typeface="IBM Plex Sans" pitchFamily="34" charset="0"/>
                <a:ea typeface="IBM Plex Sans" pitchFamily="34" charset="-122"/>
                <a:cs typeface="IBM Plex Sans" pitchFamily="34" charset="-120"/>
              </a:rPr>
              <a:t>Levering</a:t>
            </a:r>
            <a:endParaRPr lang="en-US" sz="1700" dirty="0"/>
          </a:p>
        </p:txBody>
      </p:sp>
      <p:sp>
        <p:nvSpPr>
          <p:cNvPr id="10" name="Text 8"/>
          <p:cNvSpPr/>
          <p:nvPr/>
        </p:nvSpPr>
        <p:spPr>
          <a:xfrm>
            <a:off x="3695700" y="2341761"/>
            <a:ext cx="23241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5D0D6"/>
                </a:solidFill>
                <a:latin typeface="IBM Plex Sans" pitchFamily="34" charset="0"/>
                <a:ea typeface="IBM Plex Sans" pitchFamily="34" charset="-122"/>
                <a:cs typeface="IBM Plex Sans" pitchFamily="34" charset="-120"/>
              </a:rPr>
              <a:t>bol.com uiterlijk 5 november</a:t>
            </a:r>
            <a:endParaRPr lang="en-US" sz="1300" dirty="0"/>
          </a:p>
        </p:txBody>
      </p:sp>
      <p:sp>
        <p:nvSpPr>
          <p:cNvPr id="11" name="Shape 9"/>
          <p:cNvSpPr/>
          <p:nvPr/>
        </p:nvSpPr>
        <p:spPr>
          <a:xfrm>
            <a:off x="6172200" y="1513780"/>
            <a:ext cx="2527300" cy="1476871"/>
          </a:xfrm>
          <a:prstGeom prst="roundRect">
            <a:avLst>
              <a:gd name="adj" fmla="val 6879"/>
            </a:avLst>
          </a:prstGeom>
          <a:solidFill>
            <a:srgbClr val="1B3342"/>
          </a:solidFill>
          <a:ln/>
        </p:spPr>
      </p:sp>
      <p:sp>
        <p:nvSpPr>
          <p:cNvPr id="12" name="Text 10"/>
          <p:cNvSpPr/>
          <p:nvPr/>
        </p:nvSpPr>
        <p:spPr>
          <a:xfrm>
            <a:off x="6375400" y="17169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VERVOLGENS</a:t>
            </a:r>
            <a:endParaRPr lang="en-US" sz="1200" dirty="0"/>
          </a:p>
        </p:txBody>
      </p:sp>
      <p:sp>
        <p:nvSpPr>
          <p:cNvPr id="13" name="Text 11"/>
          <p:cNvSpPr/>
          <p:nvPr/>
        </p:nvSpPr>
        <p:spPr>
          <a:xfrm>
            <a:off x="6375400" y="200650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C"/>
                </a:solidFill>
                <a:latin typeface="IBM Plex Sans" pitchFamily="34" charset="0"/>
                <a:ea typeface="IBM Plex Sans" pitchFamily="34" charset="-122"/>
                <a:cs typeface="IBM Plex Sans" pitchFamily="34" charset="-120"/>
              </a:rPr>
              <a:t>Integratie</a:t>
            </a:r>
            <a:endParaRPr lang="en-US" sz="1700" dirty="0"/>
          </a:p>
        </p:txBody>
      </p:sp>
      <p:sp>
        <p:nvSpPr>
          <p:cNvPr id="14" name="Text 12"/>
          <p:cNvSpPr/>
          <p:nvPr/>
        </p:nvSpPr>
        <p:spPr>
          <a:xfrm>
            <a:off x="6375400" y="2341761"/>
            <a:ext cx="21845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5D0D6"/>
                </a:solidFill>
                <a:latin typeface="IBM Plex Sans" pitchFamily="34" charset="0"/>
                <a:ea typeface="IBM Plex Sans" pitchFamily="34" charset="-122"/>
                <a:cs typeface="IBM Plex Sans" pitchFamily="34" charset="-120"/>
              </a:rPr>
              <a:t>Opbouw, aansluitingen en code</a:t>
            </a:r>
            <a:endParaRPr lang="en-US" sz="1300" dirty="0"/>
          </a:p>
        </p:txBody>
      </p:sp>
      <p:sp>
        <p:nvSpPr>
          <p:cNvPr id="15" name="Shape 13"/>
          <p:cNvSpPr/>
          <p:nvPr/>
        </p:nvSpPr>
        <p:spPr>
          <a:xfrm>
            <a:off x="8851900" y="1513780"/>
            <a:ext cx="2527300" cy="1476871"/>
          </a:xfrm>
          <a:prstGeom prst="roundRect">
            <a:avLst>
              <a:gd name="adj" fmla="val 6879"/>
            </a:avLst>
          </a:prstGeom>
          <a:solidFill>
            <a:srgbClr val="1B3342"/>
          </a:solidFill>
          <a:ln/>
        </p:spPr>
      </p:sp>
      <p:sp>
        <p:nvSpPr>
          <p:cNvPr id="16" name="Text 14"/>
          <p:cNvSpPr/>
          <p:nvPr/>
        </p:nvSpPr>
        <p:spPr>
          <a:xfrm>
            <a:off x="9055100" y="1716980"/>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9A23B"/>
                </a:solidFill>
                <a:latin typeface="IBM Plex Sans" pitchFamily="34" charset="0"/>
                <a:ea typeface="IBM Plex Sans" pitchFamily="34" charset="-122"/>
                <a:cs typeface="IBM Plex Sans" pitchFamily="34" charset="-120"/>
              </a:rPr>
              <a:t>UITEINDELIJK</a:t>
            </a:r>
            <a:endParaRPr lang="en-US" sz="1200" dirty="0"/>
          </a:p>
        </p:txBody>
      </p:sp>
      <p:sp>
        <p:nvSpPr>
          <p:cNvPr id="17" name="Text 15"/>
          <p:cNvSpPr/>
          <p:nvPr/>
        </p:nvSpPr>
        <p:spPr>
          <a:xfrm>
            <a:off x="9055100" y="200650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3EC"/>
                </a:solidFill>
                <a:latin typeface="IBM Plex Sans" pitchFamily="34" charset="0"/>
                <a:ea typeface="IBM Plex Sans" pitchFamily="34" charset="-122"/>
                <a:cs typeface="IBM Plex Sans" pitchFamily="34" charset="-120"/>
              </a:rPr>
              <a:t>Testen</a:t>
            </a:r>
            <a:endParaRPr lang="en-US" sz="1700" dirty="0"/>
          </a:p>
        </p:txBody>
      </p:sp>
      <p:sp>
        <p:nvSpPr>
          <p:cNvPr id="18" name="Text 16"/>
          <p:cNvSpPr/>
          <p:nvPr/>
        </p:nvSpPr>
        <p:spPr>
          <a:xfrm>
            <a:off x="9055100" y="2341761"/>
            <a:ext cx="218452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5D0D6"/>
                </a:solidFill>
                <a:latin typeface="IBM Plex Sans" pitchFamily="34" charset="0"/>
                <a:ea typeface="IBM Plex Sans" pitchFamily="34" charset="-122"/>
                <a:cs typeface="IBM Plex Sans" pitchFamily="34" charset="-120"/>
              </a:rPr>
              <a:t>Lamp-test, bewegingstest, MQTT</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5500" y="3257352"/>
          <a:ext cx="10553700" cy="1077813"/>
        </p:xfrm>
        <a:graphic>
          <a:graphicData uri="http://schemas.openxmlformats.org/drawingml/2006/table">
            <a:tbl>
              <a:tblPr/>
              <a:tblGrid>
                <a:gridCol w="1899666"/>
                <a:gridCol w="8654034"/>
              </a:tblGrid>
              <a:tr h="359271">
                <a:tc>
                  <a:txBody>
                    <a:bodyPr/>
                    <a:lstStyle/>
                    <a:p>
                      <a:pPr indent="0" marL="0">
                        <a:lnSpc>
                          <a:spcPts val="1820"/>
                        </a:lnSpc>
                        <a:buNone/>
                      </a:pPr>
                      <a:r>
                        <a:rPr lang="en-US" sz="1300" b="1" dirty="0">
                          <a:solidFill>
                            <a:srgbClr val="E9A23B"/>
                          </a:solidFill>
                          <a:latin typeface="IBM Plex Sans" pitchFamily="34" charset="0"/>
                          <a:ea typeface="IBM Plex Sans" pitchFamily="34" charset="-122"/>
                          <a:cs typeface="IBM Plex Sans" pitchFamily="34" charset="-120"/>
                        </a:rPr>
                        <a:t>Groepslid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515A"/>
                      </a:solidFill>
                      <a:prstDash val="solid"/>
                      <a:round/>
                      <a:headEnd type="none" w="med" len="med"/>
                      <a:tailEnd type="none" w="med" len="med"/>
                    </a:lnL>
                    <a:lnR w="12700" cap="flat" cmpd="sng" algn="ctr">
                      <a:solidFill>
                        <a:srgbClr val="545F66"/>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545F66"/>
                      </a:solidFill>
                      <a:prstDash val="solid"/>
                      <a:round/>
                      <a:headEnd type="none" w="med" len="med"/>
                      <a:tailEnd type="none" w="med" len="med"/>
                    </a:lnB>
                    <a:solidFill>
                      <a:srgbClr val="25333E"/>
                    </a:solidFill>
                  </a:tcPr>
                </a:tc>
                <a:tc>
                  <a:txBody>
                    <a:bodyPr/>
                    <a:lstStyle/>
                    <a:p>
                      <a:pPr indent="0" marL="0">
                        <a:lnSpc>
                          <a:spcPts val="1820"/>
                        </a:lnSpc>
                        <a:buNone/>
                      </a:pPr>
                      <a:r>
                        <a:rPr lang="en-US" sz="1300" b="1" dirty="0">
                          <a:solidFill>
                            <a:srgbClr val="E9A23B"/>
                          </a:solidFill>
                          <a:latin typeface="IBM Plex Sans" pitchFamily="34" charset="0"/>
                          <a:ea typeface="IBM Plex Sans" pitchFamily="34" charset="-122"/>
                          <a:cs typeface="IBM Plex Sans" pitchFamily="34" charset="-120"/>
                        </a:rPr>
                        <a:t>Verantwoordelijk voor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545F66"/>
                      </a:solidFill>
                      <a:prstDash val="solid"/>
                      <a:round/>
                      <a:headEnd type="none" w="med" len="med"/>
                      <a:tailEnd type="none" w="med" len="med"/>
                    </a:lnL>
                    <a:lnR w="12700" cap="flat" cmpd="sng" algn="ctr">
                      <a:solidFill>
                        <a:srgbClr val="545F66"/>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545F66"/>
                      </a:solidFill>
                      <a:prstDash val="solid"/>
                      <a:round/>
                      <a:headEnd type="none" w="med" len="med"/>
                      <a:tailEnd type="none" w="med" len="med"/>
                    </a:lnB>
                    <a:solidFill>
                      <a:srgbClr val="25333E"/>
                    </a:solidFill>
                  </a:tcPr>
                </a:tc>
              </a:tr>
              <a:tr h="359271">
                <a:tc>
                  <a:txBody>
                    <a:bodyPr/>
                    <a:lstStyle/>
                    <a:p>
                      <a:pPr indent="0" marL="0">
                        <a:lnSpc>
                          <a:spcPts val="1820"/>
                        </a:lnSpc>
                        <a:buNone/>
                      </a:pPr>
                      <a:r>
                        <a:rPr lang="en-US" sz="1300" dirty="0">
                          <a:solidFill>
                            <a:srgbClr val="EEF1F2"/>
                          </a:solidFill>
                          <a:latin typeface="IBM Plex Sans" pitchFamily="34" charset="0"/>
                          <a:ea typeface="IBM Plex Sans" pitchFamily="34" charset="-122"/>
                          <a:cs typeface="IBM Plex Sans" pitchFamily="34" charset="-120"/>
                        </a:rPr>
                        <a:t>Runar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545F66"/>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820"/>
                        </a:lnSpc>
                        <a:buNone/>
                      </a:pPr>
                      <a:r>
                        <a:rPr lang="en-US" sz="1300" dirty="0">
                          <a:solidFill>
                            <a:srgbClr val="EEF1F2"/>
                          </a:solidFill>
                          <a:latin typeface="IBM Plex Sans" pitchFamily="34" charset="0"/>
                          <a:ea typeface="IBM Plex Sans" pitchFamily="34" charset="-122"/>
                          <a:cs typeface="IBM Plex Sans" pitchFamily="34" charset="-120"/>
                        </a:rPr>
                        <a:t>Bestellen en kostenanalyse, BrightLinq en MQTT, bewegingstest (servo en Hue-API), GitHub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545F66"/>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r h="359271">
                <a:tc>
                  <a:txBody>
                    <a:bodyPr/>
                    <a:lstStyle/>
                    <a:p>
                      <a:pPr indent="0" marL="0">
                        <a:lnSpc>
                          <a:spcPts val="1820"/>
                        </a:lnSpc>
                        <a:buNone/>
                      </a:pPr>
                      <a:r>
                        <a:rPr lang="en-US" sz="1300" dirty="0">
                          <a:solidFill>
                            <a:srgbClr val="EEF1F2"/>
                          </a:solidFill>
                          <a:latin typeface="IBM Plex Sans" pitchFamily="34" charset="0"/>
                          <a:ea typeface="IBM Plex Sans" pitchFamily="34" charset="-122"/>
                          <a:cs typeface="IBM Plex Sans" pitchFamily="34" charset="-120"/>
                        </a:rPr>
                        <a:t>Milan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c>
                  <a:txBody>
                    <a:bodyPr/>
                    <a:lstStyle/>
                    <a:p>
                      <a:pPr indent="0" marL="0">
                        <a:lnSpc>
                          <a:spcPts val="1820"/>
                        </a:lnSpc>
                        <a:buNone/>
                      </a:pPr>
                      <a:r>
                        <a:rPr lang="en-US" sz="1300" dirty="0">
                          <a:solidFill>
                            <a:srgbClr val="EEF1F2"/>
                          </a:solidFill>
                          <a:latin typeface="IBM Plex Sans" pitchFamily="34" charset="0"/>
                          <a:ea typeface="IBM Plex Sans" pitchFamily="34" charset="-122"/>
                          <a:cs typeface="IBM Plex Sans" pitchFamily="34" charset="-120"/>
                        </a:rPr>
                        <a:t>Opbouw en aansluitingen, lamp-test (AS7341, BH1750 en display), 3D-geprinte houders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5515A"/>
                      </a:solidFill>
                      <a:prstDash val="solid"/>
                      <a:round/>
                      <a:headEnd type="none" w="med" len="med"/>
                      <a:tailEnd type="none" w="med" len="med"/>
                    </a:lnL>
                    <a:lnR w="12700" cap="flat" cmpd="sng" algn="ctr">
                      <a:solidFill>
                        <a:srgbClr val="45515A"/>
                      </a:solidFill>
                      <a:prstDash val="solid"/>
                      <a:round/>
                      <a:headEnd type="none" w="med" len="med"/>
                      <a:tailEnd type="none" w="med" len="med"/>
                    </a:lnR>
                    <a:lnT w="12700" cap="flat" cmpd="sng" algn="ctr">
                      <a:solidFill>
                        <a:srgbClr val="45515A"/>
                      </a:solidFill>
                      <a:prstDash val="solid"/>
                      <a:round/>
                      <a:headEnd type="none" w="med" len="med"/>
                      <a:tailEnd type="none" w="med" len="med"/>
                    </a:lnT>
                    <a:lnB w="12700" cap="flat" cmpd="sng" algn="ctr">
                      <a:solidFill>
                        <a:srgbClr val="45515A"/>
                      </a:solidFill>
                      <a:prstDash val="solid"/>
                      <a:round/>
                      <a:headEnd type="none" w="med" len="med"/>
                      <a:tailEnd type="none" w="med" len="med"/>
                    </a:lnB>
                  </a:tcPr>
                </a:tc>
              </a:tr>
            </a:tbl>
          </a:graphicData>
        </a:graphic>
      </p:graphicFrame>
      <p:sp>
        <p:nvSpPr>
          <p:cNvPr id="20"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BF"/>
                </a:solidFill>
                <a:latin typeface="IBM Plex Sans" pitchFamily="34" charset="0"/>
                <a:ea typeface="IBM Plex Sans" pitchFamily="34" charset="-122"/>
                <a:cs typeface="IBM Plex Sans" pitchFamily="34" charset="-120"/>
              </a:rPr>
              <a:t>Datums en taken zijn voorlopig.</a:t>
            </a:r>
            <a:endParaRPr lang="en-US" sz="1200" dirty="0"/>
          </a:p>
        </p:txBody>
      </p:sp>
      <p:sp>
        <p:nvSpPr>
          <p:cNvPr id="21"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7BF"/>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theme/theme1.xml><?xml version="1.0" encoding="utf-8"?>
<a:theme xmlns:a="http://schemas.openxmlformats.org/drawingml/2006/main" name="Light-Colour-Led-Testbench: evaluatie 1">
  <a:themeElements>
    <a:clrScheme name="Light-Colour-Led-Testbench: evaluatie 1">
      <a:dk1>
        <a:srgbClr val="1B2A34"/>
      </a:dk1>
      <a:lt1>
        <a:srgbClr val="F5F3EC"/>
      </a:lt1>
      <a:dk2>
        <a:srgbClr val="525C62"/>
      </a:dk2>
      <a:lt2>
        <a:srgbClr val="DFDFDA"/>
      </a:lt2>
      <a:accent1>
        <a:srgbClr val="E9A23B"/>
      </a:accent1>
      <a:accent2>
        <a:srgbClr val="1F7A70"/>
      </a:accent2>
      <a:accent3>
        <a:srgbClr val="D64545"/>
      </a:accent3>
      <a:accent4>
        <a:srgbClr val="E8D44D"/>
      </a:accent4>
      <a:accent5>
        <a:srgbClr val="4CAF7A"/>
      </a:accent5>
      <a:accent6>
        <a:srgbClr val="2E9C8F"/>
      </a:accent6>
      <a:hlink>
        <a:srgbClr val="0563C1"/>
      </a:hlink>
      <a:folHlink>
        <a:srgbClr val="954F72"/>
      </a:folHlink>
    </a:clrScheme>
    <a:fontScheme name="Light-Colour-Led-Testbench: evaluatie 1">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Light-Colour-Led-Testbench: evaluatie 1</dc:title>
  <dc:subject/>
  <dc:creator/>
  <cp:lastModifiedBy/>
  <cp:revision>1</cp:revision>
  <dcterms:created xsi:type="dcterms:W3CDTF">2026-10-26T17:51:18Z</dcterms:created>
  <dcterms:modified xsi:type="dcterms:W3CDTF">2026-10-26T17:51:18Z</dcterms:modified>
</cp:coreProperties>
</file>